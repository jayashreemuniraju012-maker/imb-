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01817ce7be0a4356" /><Relationship Type="http://schemas.openxmlformats.org/package/2006/relationships/metadata/core-properties" Target="/docProps/core.xml" Id="R1e68a95f0cd64843" /><Relationship Type="http://schemas.openxmlformats.org/officeDocument/2006/relationships/extended-properties" Target="/docProps/app.xml" Id="R68be31839e504c54" /><Relationship Type="http://schemas.openxmlformats.org/officeDocument/2006/relationships/custom-properties" Target="/docProps/custom.xml" Id="R078173c6fca841b1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Id1"/>
  </p:sldMasterIdLst>
  <p:notesMasterIdLst>
    <p:notesMasterId r:id="Rf4b029f7c1354070"/>
  </p:notesMasterIdLst>
  <p:sldIdLst>
    <p:sldId id="256" r:id="R8e64a63ad1ff4e98"/>
    <p:sldId id="257" r:id="R308a59d686a64dfa"/>
    <p:sldId id="258" r:id="Recefb231eb8044fe"/>
    <p:sldId id="259" r:id="R1bd46dc1b79f4e8c"/>
    <p:sldId id="260" r:id="R04e9b575ea0a493c"/>
    <p:sldId id="261" r:id="R4b3228c1b9fb4727"/>
    <p:sldId id="262" r:id="R54450f4465864e20"/>
    <p:sldId id="263" r:id="R3b3afc502af94d5b"/>
    <p:sldId id="264" r:id="Raa1c4dc9536d4b1c"/>
    <p:sldId id="265" r:id="R5f3bd134050449cc"/>
  </p:sldIdLst>
  <p:sldSz cx="12192000" cy="6858000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Id2" /><Relationship Type="http://schemas.openxmlformats.org/officeDocument/2006/relationships/slide" Target="/ppt/slides/slide1.xml" Id="R8e64a63ad1ff4e98" /><Relationship Type="http://schemas.openxmlformats.org/officeDocument/2006/relationships/notesMaster" Target="/ppt/notesMasters/notesMaster1.xml" Id="Rf4b029f7c1354070" /><Relationship Type="http://schemas.openxmlformats.org/officeDocument/2006/relationships/slide" Target="/ppt/slides/slide2.xml" Id="R308a59d686a64dfa" /><Relationship Type="http://schemas.openxmlformats.org/officeDocument/2006/relationships/slide" Target="/ppt/slides/slide3.xml" Id="Recefb231eb8044fe" /><Relationship Type="http://schemas.openxmlformats.org/officeDocument/2006/relationships/slide" Target="/ppt/slides/slide4.xml" Id="R1bd46dc1b79f4e8c" /><Relationship Type="http://schemas.openxmlformats.org/officeDocument/2006/relationships/slide" Target="/ppt/slides/slide5.xml" Id="R04e9b575ea0a493c" /><Relationship Type="http://schemas.openxmlformats.org/officeDocument/2006/relationships/slide" Target="/ppt/slides/slide6.xml" Id="R4b3228c1b9fb4727" /><Relationship Type="http://schemas.openxmlformats.org/officeDocument/2006/relationships/slide" Target="/ppt/slides/slide7.xml" Id="R54450f4465864e20" /><Relationship Type="http://schemas.openxmlformats.org/officeDocument/2006/relationships/slide" Target="/ppt/slides/slide8.xml" Id="R3b3afc502af94d5b" /><Relationship Type="http://schemas.openxmlformats.org/officeDocument/2006/relationships/slide" Target="/ppt/slides/slide9.xml" Id="Raa1c4dc9536d4b1c" /><Relationship Type="http://schemas.openxmlformats.org/officeDocument/2006/relationships/slide" Target="/ppt/slides/slide10.xml" Id="R5f3bd134050449c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b16dec89df624d38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fld id="{B1E4B0A2-5C8E-4E5F-9C1D-2F3A4B5C6D71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3429000"/>
            <a:ext cx="5486400" cy="411480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fld id="{B1E4B0A2-5C8E-4E5F-9C1D-2F3A4B5C6D72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9f50220ca1a442fc" /><Relationship Type="http://schemas.openxmlformats.org/officeDocument/2006/relationships/slide" Target="/ppt/slides/slide1.xml" Id="R633d959ce4754d7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0e99281e357b41d1" /><Relationship Type="http://schemas.openxmlformats.org/officeDocument/2006/relationships/slide" Target="/ppt/slides/slide2.xml" Id="Rc9180382f5804ca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d4b5eb3d9a6a4017" /><Relationship Type="http://schemas.openxmlformats.org/officeDocument/2006/relationships/slide" Target="/ppt/slides/slide3.xml" Id="R57abe625f3a644b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15a8054e965343d0" /><Relationship Type="http://schemas.openxmlformats.org/officeDocument/2006/relationships/slide" Target="/ppt/slides/slide4.xml" Id="R2f02eaa54b7a455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4c15afe41f124532" /><Relationship Type="http://schemas.openxmlformats.org/officeDocument/2006/relationships/slide" Target="/ppt/slides/slide5.xml" Id="R4b72c84314de4a8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cb2c435cd8b14f49" /><Relationship Type="http://schemas.openxmlformats.org/officeDocument/2006/relationships/slide" Target="/ppt/slides/slide6.xml" Id="R90585d6855f146e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941dbde1852c448d" /><Relationship Type="http://schemas.openxmlformats.org/officeDocument/2006/relationships/slide" Target="/ppt/slides/slide7.xml" Id="R205344d310eb454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a824983934c74841" /><Relationship Type="http://schemas.openxmlformats.org/officeDocument/2006/relationships/slide" Target="/ppt/slides/slide8.xml" Id="R1638ecc6b21b4dd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c3843895d5344ff9" /><Relationship Type="http://schemas.openxmlformats.org/officeDocument/2006/relationships/slide" Target="/ppt/slides/slide9.xml" Id="R266b0c10d5fe40a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5da90eb8566a444f" /><Relationship Type="http://schemas.openxmlformats.org/officeDocument/2006/relationships/slide" Target="/ppt/slides/slide10.xml" Id="Radf38ae9011c4cb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Title slide. Social Media Agent — Problem Statement #10. Agentic AI solution for brands, influencers, and organizations.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Problem: Brands and influencers can't keep pace with social media. Trends, sentiment, competitor moves all change faster than manual analysis allows.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Four core pillars: Data Fusion, Multimodal Interaction, Predictive AI, and Real-time Dashboard. All connected through IBM watsonx and Langflow.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Architecture: React frontend talks to FastAPI backend. Backend orchestrates IBM watsonx.ai for AI, Langflow for flows, social platform connectors, and databases.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IBM watsonx Granite model used for all AI tasks. Langflow orchestrates the prompt pipeline. Both have automatic mock fallbacks for development.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5 agent tools covering: hashtag forecasting, sentiment detection, competitor analysis, scheduling, and campaign forecasting. All use the ReAct loop.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7 fully functional dashboard panels. Each is a separate React component with live API calls, charts, and interactive controls.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Full tech stack: IBM watsonx + Langflow for AI, FastAPI backend, React frontend, Docker infra. 49 total files with zero syntax errors.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Quick start: copy .env, install dependencies, start backend on 8000, start frontend on 3000. Works immediately with mock data.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Thank you slide. Full application built with IBM watsonx.ai, Langflow, FastAPI, React, and Docker. 49 files, 5 AI tools, zero errors.</a:t>
            </a:r>
          </a:p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6a5a0d44e7c4fb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44aa34e2263453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62e5343aca64d52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e62f5865a4c4ba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4e383ba86e24870" /></Relationships>
</file>

<file path=ppt/slideLayouts/slideLayout1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ubtitle"/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3.xml><?xml version="1.0" encoding="utf-8"?>
<p:sldLayout xmlns:p="http://schemas.openxmlformats.org/presentationml/2006/main" type="objTx">
  <p:cSld name="Title and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ColTx">
  <p:cSld name="Two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Lef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Right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5.xml><?xml version="1.0" encoding="utf-8"?>
<p:sldLayout xmlns:p="http://schemas.openxmlformats.org/presentationml/2006/main" type="titleOnly">
  <p:cSld name="Title Only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theme" Target="/ppt/theme/theme1.xml" Id="R4050387b33b64f0d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4.xml" Id="rId4" /><Relationship Type="http://schemas.openxmlformats.org/officeDocument/2006/relationships/slideLayout" Target="/ppt/slideLayouts/slideLayout5.xml" Id="rId5" /></Relationships>
</file>

<file path=ppt/slideMasters/slideMaster1.xml><?xml version="1.0" encoding="utf-8"?>
<p:sldMaster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  <p:sldLayoutId xmlns:r="http://schemas.openxmlformats.org/officeDocument/2006/relationships" id="2147483650" r:id="rId2"/>
    <p:sldLayoutId xmlns:r="http://schemas.openxmlformats.org/officeDocument/2006/relationships" id="2147483651" r:id="rId3"/>
    <p:sldLayoutId xmlns:r="http://schemas.openxmlformats.org/officeDocument/2006/relationships" id="2147483652" r:id="rId4"/>
    <p:sldLayoutId xmlns:r="http://schemas.openxmlformats.org/officeDocument/2006/relationships" id="2147483653" r:id="rId5"/>
  </p:sldLayoutIdLst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22eeb733cc4e12" /><Relationship Type="http://schemas.openxmlformats.org/officeDocument/2006/relationships/notesSlide" Target="/ppt/notesSlides/notesSlide1.xml" Id="R79a858f088f04f4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e6f5d1b882450e" /><Relationship Type="http://schemas.openxmlformats.org/officeDocument/2006/relationships/notesSlide" Target="/ppt/notesSlides/notesSlide2.xml" Id="R0aa5c6941f5240d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75748dcfba4a34" /><Relationship Type="http://schemas.openxmlformats.org/officeDocument/2006/relationships/notesSlide" Target="/ppt/notesSlides/notesSlide3.xml" Id="R8acc1ec4fdad49d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56e9947d7147c4" /><Relationship Type="http://schemas.openxmlformats.org/officeDocument/2006/relationships/notesSlide" Target="/ppt/notesSlides/notesSlide4.xml" Id="Ra7aefd341ab445d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05a512530445f7" /><Relationship Type="http://schemas.openxmlformats.org/officeDocument/2006/relationships/notesSlide" Target="/ppt/notesSlides/notesSlide5.xml" Id="R6045ebe936e5424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4dc7a91f7349bb" /><Relationship Type="http://schemas.openxmlformats.org/officeDocument/2006/relationships/notesSlide" Target="/ppt/notesSlides/notesSlide6.xml" Id="Rb6a5689087a0449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b13be595d345e1" /><Relationship Type="http://schemas.openxmlformats.org/officeDocument/2006/relationships/notesSlide" Target="/ppt/notesSlides/notesSlide7.xml" Id="Rd9b76587fbdc43a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3e8d91ff3b4292" /><Relationship Type="http://schemas.openxmlformats.org/officeDocument/2006/relationships/notesSlide" Target="/ppt/notesSlides/notesSlide8.xml" Id="R764ffe9af62947b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21243fffb54364" /><Relationship Type="http://schemas.openxmlformats.org/officeDocument/2006/relationships/notesSlide" Target="/ppt/notesSlides/notesSlide9.xml" Id="R66201ab25bd44ef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fda7ec99e0407b" /><Relationship Type="http://schemas.openxmlformats.org/officeDocument/2006/relationships/notesSlide" Target="/ppt/notesSlides/notesSlide10.xml" Id="R6f66f3ad634a4fc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A0F1E"/>
        </a:solidFill>
      </p:bgPr>
    </p:bg>
    <p:spTree>
      <p:nvGrpSpPr>
        <p:cNvPr id="1" name=""/>
        <p:cNvGrpSpPr/>
        <p:nvPr/>
      </p:nvGrpSpPr>
      <p:grpSpPr/>
      <p:sp>
        <p:nvSpPr>
          <p:cNvPr id="100000" name="TopBar"/>
          <p:cNvSpPr txBox="1"/>
          <p:nvPr/>
        </p:nvSpPr>
        <p:spPr>
          <a:xfrm xmlns:a="http://schemas.openxmlformats.org/drawingml/2006/main">
            <a:off x="0" y="0"/>
            <a:ext cx="12193200" cy="1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8EF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>
              <a:solidFill>
                <a:srgbClr val="4F8EF7"/>
              </a:solidFill>
            </a:endParaRPr>
          </a:p>
        </p:txBody>
      </p:sp>
      <p:sp>
        <p:nvSpPr>
          <p:cNvPr id="100001" name="Title"/>
          <p:cNvSpPr txBox="1"/>
          <p:nvPr/>
        </p:nvSpPr>
        <p:spPr>
          <a:xfrm xmlns:a="http://schemas.openxmlformats.org/drawingml/2006/main">
            <a:off x="720000" y="1080000"/>
            <a:ext cx="10800000" cy="126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5400" b="1">
                <a:solidFill>
                  <a:srgbClr val="FFFFFF"/>
                </a:solidFill>
                <a:latin typeface="Segoe UI"/>
                <a:ea typeface="Segoe UI"/>
              </a:rPr>
              <a:t>Social Media Agent</a:t>
            </a:r>
          </a:p>
        </p:txBody>
      </p:sp>
      <p:sp>
        <p:nvSpPr>
          <p:cNvPr id="100002" name="Subtitle"/>
          <p:cNvSpPr txBox="1"/>
          <p:nvPr/>
        </p:nvSpPr>
        <p:spPr>
          <a:xfrm xmlns:a="http://schemas.openxmlformats.org/drawingml/2006/main">
            <a:off x="720000" y="2520000"/>
            <a:ext cx="10800000" cy="72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200" b="0">
                <a:solidFill>
                  <a:srgbClr val="8AB4F8"/>
                </a:solidFill>
                <a:latin typeface="Segoe UI"/>
                <a:ea typeface="Segoe UI"/>
              </a:rPr>
              <a:t>Agentic AI Companion for Multichannel Social Media Management</a:t>
            </a:r>
          </a:p>
        </p:txBody>
      </p:sp>
      <p:sp>
        <p:nvSpPr>
          <p:cNvPr id="100003" name="Badge"/>
          <p:cNvSpPr txBox="1"/>
          <p:nvPr/>
        </p:nvSpPr>
        <p:spPr>
          <a:xfrm xmlns:a="http://schemas.openxmlformats.org/drawingml/2006/main">
            <a:off x="720000" y="3600000"/>
            <a:ext cx="9000000" cy="36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 b="0">
                <a:solidFill>
                  <a:srgbClr val="7C5CD8"/>
                </a:solidFill>
                <a:latin typeface="Segoe UI"/>
                <a:ea typeface="Segoe UI"/>
              </a:rPr>
              <a:t>Powered by IBM watsonx.ai  |  IBM Langflow  |  React</a:t>
            </a:r>
          </a:p>
        </p:txBody>
      </p:sp>
      <p:sp>
        <p:nvSpPr>
          <p:cNvPr id="100004" name="ProblemNo"/>
          <p:cNvSpPr txBox="1"/>
          <p:nvPr/>
        </p:nvSpPr>
        <p:spPr>
          <a:xfrm xmlns:a="http://schemas.openxmlformats.org/drawingml/2006/main">
            <a:off x="720000" y="5940000"/>
            <a:ext cx="5400000" cy="28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0">
                <a:solidFill>
                  <a:srgbClr val="8B90A7"/>
                </a:solidFill>
                <a:latin typeface="Segoe UI"/>
                <a:ea typeface="Segoe UI"/>
              </a:rPr>
              <a:t>Problem Statement #10</a:t>
            </a:r>
          </a:p>
        </p:txBody>
      </p:sp>
    </p:spTree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A0F1E"/>
        </a:solidFill>
      </p:bgPr>
    </p:bg>
    <p:spTree>
      <p:nvGrpSpPr>
        <p:cNvPr id="1" name=""/>
        <p:cNvGrpSpPr/>
        <p:nvPr/>
      </p:nvGrpSpPr>
      <p:grpSpPr/>
      <p:sp>
        <p:nvSpPr>
          <p:cNvPr id="100005" name="AccentBar"/>
          <p:cNvSpPr txBox="1"/>
          <p:nvPr/>
        </p:nvSpPr>
        <p:spPr>
          <a:xfrm xmlns:a="http://schemas.openxmlformats.org/drawingml/2006/main">
            <a:off x="0" y="0"/>
            <a:ext cx="216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8EF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>
              <a:solidFill>
                <a:srgbClr val="4F8EF7"/>
              </a:solidFill>
            </a:endParaRPr>
          </a:p>
        </p:txBody>
      </p:sp>
      <p:sp>
        <p:nvSpPr>
          <p:cNvPr id="100006" name="SlideLabel"/>
          <p:cNvSpPr txBox="1"/>
          <p:nvPr/>
        </p:nvSpPr>
        <p:spPr>
          <a:xfrm xmlns:a="http://schemas.openxmlformats.org/drawingml/2006/main">
            <a:off x="540000" y="360000"/>
            <a:ext cx="7200000" cy="25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 b="1">
                <a:solidFill>
                  <a:srgbClr val="4F8EF7"/>
                </a:solidFill>
                <a:latin typeface="Segoe UI"/>
                <a:ea typeface="Segoe UI"/>
              </a:rPr>
              <a:t>THE CHALLENGE</a:t>
            </a:r>
          </a:p>
        </p:txBody>
      </p:sp>
      <p:sp>
        <p:nvSpPr>
          <p:cNvPr id="100007" name="SlideTitle"/>
          <p:cNvSpPr txBox="1"/>
          <p:nvPr/>
        </p:nvSpPr>
        <p:spPr>
          <a:xfrm xmlns:a="http://schemas.openxmlformats.org/drawingml/2006/main">
            <a:off x="540000" y="648000"/>
            <a:ext cx="10800000" cy="72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800" b="1">
                <a:solidFill>
                  <a:srgbClr val="FFFFFF"/>
                </a:solidFill>
                <a:latin typeface="Segoe UI"/>
                <a:ea typeface="Segoe UI"/>
              </a:rPr>
              <a:t>Problem Statement</a:t>
            </a:r>
          </a:p>
        </p:txBody>
      </p:sp>
      <p:sp>
        <p:nvSpPr>
          <p:cNvPr id="100008" name="P1"/>
          <p:cNvSpPr txBox="1"/>
          <p:nvPr/>
        </p:nvSpPr>
        <p:spPr>
          <a:xfrm xmlns:a="http://schemas.openxmlformats.org/drawingml/2006/main">
            <a:off x="540000" y="1620000"/>
            <a:ext cx="10800000" cy="36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 b="0">
                <a:solidFill>
                  <a:srgbClr val="8AB4F8"/>
                </a:solidFill>
                <a:latin typeface="Segoe UI"/>
                <a:ea typeface="Segoe UI"/>
              </a:rPr>
              <a:t>Brands &amp; influencers struggle to keep up with fast-paced, fragmented social media</a:t>
            </a:r>
          </a:p>
        </p:txBody>
      </p:sp>
      <p:sp>
        <p:nvSpPr>
          <p:cNvPr id="100009" name="C1"/>
          <p:cNvSpPr txBox="1"/>
          <p:nvPr/>
        </p:nvSpPr>
        <p:spPr>
          <a:xfrm xmlns:a="http://schemas.openxmlformats.org/drawingml/2006/main">
            <a:off x="540000" y="2160000"/>
            <a:ext cx="5040000" cy="9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D2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 b="0">
                <a:solidFill>
                  <a:srgbClr val="E8EAF0"/>
                </a:solidFill>
                <a:latin typeface="Segoe UI"/>
                <a:ea typeface="Segoe UI"/>
              </a:rPr>
              <a:t>Content trends evolve hourly</a:t>
            </a:r>
          </a:p>
        </p:txBody>
      </p:sp>
      <p:sp>
        <p:nvSpPr>
          <p:cNvPr id="100010" name="C2"/>
          <p:cNvSpPr txBox="1"/>
          <p:nvPr/>
        </p:nvSpPr>
        <p:spPr>
          <a:xfrm xmlns:a="http://schemas.openxmlformats.org/drawingml/2006/main">
            <a:off x="5940000" y="2160000"/>
            <a:ext cx="5040000" cy="9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D2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 b="0">
                <a:solidFill>
                  <a:srgbClr val="E8EAF0"/>
                </a:solidFill>
                <a:latin typeface="Segoe UI"/>
                <a:ea typeface="Segoe UI"/>
              </a:rPr>
              <a:t>Audience sentiment shifts rapidly</a:t>
            </a:r>
          </a:p>
        </p:txBody>
      </p:sp>
      <p:sp>
        <p:nvSpPr>
          <p:cNvPr id="100011" name="C3"/>
          <p:cNvSpPr txBox="1"/>
          <p:nvPr/>
        </p:nvSpPr>
        <p:spPr>
          <a:xfrm xmlns:a="http://schemas.openxmlformats.org/drawingml/2006/main">
            <a:off x="540000" y="3312000"/>
            <a:ext cx="5040000" cy="9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D2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 b="0">
                <a:solidFill>
                  <a:srgbClr val="E8EAF0"/>
                </a:solidFill>
                <a:latin typeface="Segoe UI"/>
                <a:ea typeface="Segoe UI"/>
              </a:rPr>
              <a:t>Competitor strategies are hard to track</a:t>
            </a:r>
          </a:p>
        </p:txBody>
      </p:sp>
      <p:sp>
        <p:nvSpPr>
          <p:cNvPr id="100012" name="C4"/>
          <p:cNvSpPr txBox="1"/>
          <p:nvPr/>
        </p:nvSpPr>
        <p:spPr>
          <a:xfrm xmlns:a="http://schemas.openxmlformats.org/drawingml/2006/main">
            <a:off x="5940000" y="3312000"/>
            <a:ext cx="5040000" cy="9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D2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 b="0">
                <a:solidFill>
                  <a:srgbClr val="E8EAF0"/>
                </a:solidFill>
                <a:latin typeface="Segoe UI"/>
                <a:ea typeface="Segoe UI"/>
              </a:rPr>
              <a:t>Managing multiple platforms leads to scattered insights</a:t>
            </a:r>
          </a:p>
        </p:txBody>
      </p:sp>
      <p:sp>
        <p:nvSpPr>
          <p:cNvPr id="100013" name="Statement"/>
          <p:cNvSpPr txBox="1"/>
          <p:nvPr/>
        </p:nvSpPr>
        <p:spPr>
          <a:xfrm xmlns:a="http://schemas.openxmlformats.org/drawingml/2006/main">
            <a:off x="540000" y="4680000"/>
            <a:ext cx="10800000" cy="54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 b="1">
                <a:solidFill>
                  <a:srgbClr val="7C5CD8"/>
                </a:solidFill>
                <a:latin typeface="Segoe UI"/>
                <a:ea typeface="Segoe UI"/>
              </a:rPr>
              <a:t>The challenge: not just collect data — but ANALYZE, PREDICT and ACT in real time.</a:t>
            </a:r>
          </a:p>
        </p:txBody>
      </p:sp>
    </p:spTree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A0F1E"/>
        </a:solidFill>
      </p:bgPr>
    </p:bg>
    <p:spTree>
      <p:nvGrpSpPr>
        <p:cNvPr id="1" name=""/>
        <p:cNvGrpSpPr/>
        <p:nvPr/>
      </p:nvGrpSpPr>
      <p:grpSpPr/>
      <p:sp>
        <p:nvSpPr>
          <p:cNvPr id="100014" name="AccentBar"/>
          <p:cNvSpPr txBox="1"/>
          <p:nvPr/>
        </p:nvSpPr>
        <p:spPr>
          <a:xfrm xmlns:a="http://schemas.openxmlformats.org/drawingml/2006/main">
            <a:off x="0" y="0"/>
            <a:ext cx="216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5CD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>
              <a:solidFill>
                <a:srgbClr val="7C5CD8"/>
              </a:solidFill>
            </a:endParaRPr>
          </a:p>
        </p:txBody>
      </p:sp>
      <p:sp>
        <p:nvSpPr>
          <p:cNvPr id="100015" name="SlideLabel"/>
          <p:cNvSpPr txBox="1"/>
          <p:nvPr/>
        </p:nvSpPr>
        <p:spPr>
          <a:xfrm xmlns:a="http://schemas.openxmlformats.org/drawingml/2006/main">
            <a:off x="540000" y="360000"/>
            <a:ext cx="7200000" cy="25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 b="1">
                <a:solidFill>
                  <a:srgbClr val="7C5CD8"/>
                </a:solidFill>
                <a:latin typeface="Segoe UI"/>
                <a:ea typeface="Segoe UI"/>
              </a:rPr>
              <a:t>OUR SOLUTION</a:t>
            </a:r>
          </a:p>
        </p:txBody>
      </p:sp>
      <p:sp>
        <p:nvSpPr>
          <p:cNvPr id="100016" name="SlideTitle"/>
          <p:cNvSpPr txBox="1"/>
          <p:nvPr/>
        </p:nvSpPr>
        <p:spPr>
          <a:xfrm xmlns:a="http://schemas.openxmlformats.org/drawingml/2006/main">
            <a:off x="540000" y="648000"/>
            <a:ext cx="10800000" cy="72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800" b="1">
                <a:solidFill>
                  <a:srgbClr val="FFFFFF"/>
                </a:solidFill>
                <a:latin typeface="Segoe UI"/>
                <a:ea typeface="Segoe UI"/>
              </a:rPr>
              <a:t>What We Built</a:t>
            </a:r>
          </a:p>
        </p:txBody>
      </p:sp>
      <p:sp>
        <p:nvSpPr>
          <p:cNvPr id="100017" name="Desc"/>
          <p:cNvSpPr txBox="1"/>
          <p:nvPr/>
        </p:nvSpPr>
        <p:spPr>
          <a:xfrm xmlns:a="http://schemas.openxmlformats.org/drawingml/2006/main">
            <a:off x="540000" y="1512000"/>
            <a:ext cx="10800000" cy="54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700" b="0">
                <a:solidFill>
                  <a:srgbClr val="8AB4F8"/>
                </a:solidFill>
                <a:latin typeface="Segoe UI"/>
                <a:ea typeface="Segoe UI"/>
              </a:rPr>
              <a:t>An agentic AI application that acts as an intelligent social media companion — collecting, analyzing, predicting and recommending actions in real time.</a:t>
            </a:r>
          </a:p>
        </p:txBody>
      </p:sp>
      <p:sp>
        <p:nvSpPr>
          <p:cNvPr id="100018" name="F1"/>
          <p:cNvSpPr txBox="1"/>
          <p:nvPr/>
        </p:nvSpPr>
        <p:spPr>
          <a:xfrm xmlns:a="http://schemas.openxmlformats.org/drawingml/2006/main">
            <a:off x="540000" y="2268000"/>
            <a:ext cx="4860000" cy="12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D2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 b="0">
                <a:solidFill>
                  <a:srgbClr val="E8EAF0"/>
                </a:solidFill>
                <a:latin typeface="Segoe UI"/>
                <a:ea typeface="Segoe UI"/>
              </a:rPr>
              <a:t>Multichannel Data Fusion</a:t>
            </a:r>
          </a:p>
          <a:p xmlns:a="http://schemas.openxmlformats.org/drawingml/2006/main">
            <a:r>
              <a:rPr lang="en-US" sz="1500" b="0">
                <a:solidFill>
                  <a:srgbClr val="E8EAF0"/>
                </a:solidFill>
                <a:latin typeface="Segoe UI"/>
                <a:ea typeface="Segoe UI"/>
              </a:rPr>
              <a:t>Fuse posts, comments and hashtags from X, LinkedIn, Instagram and Facebook into unified insights</a:t>
            </a:r>
          </a:p>
        </p:txBody>
      </p:sp>
      <p:sp>
        <p:nvSpPr>
          <p:cNvPr id="100019" name="F2"/>
          <p:cNvSpPr txBox="1"/>
          <p:nvPr/>
        </p:nvSpPr>
        <p:spPr>
          <a:xfrm xmlns:a="http://schemas.openxmlformats.org/drawingml/2006/main">
            <a:off x="5940000" y="2268000"/>
            <a:ext cx="4860000" cy="12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D2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 b="0">
                <a:solidFill>
                  <a:srgbClr val="E8EAF0"/>
                </a:solidFill>
                <a:latin typeface="Segoe UI"/>
                <a:ea typeface="Segoe UI"/>
              </a:rPr>
              <a:t>Multimodal Interaction</a:t>
            </a:r>
          </a:p>
          <a:p xmlns:a="http://schemas.openxmlformats.org/drawingml/2006/main">
            <a:r>
              <a:rPr lang="en-US" sz="1500" b="0">
                <a:solidFill>
                  <a:srgbClr val="E8EAF0"/>
                </a:solidFill>
                <a:latin typeface="Segoe UI"/>
                <a:ea typeface="Segoe UI"/>
              </a:rPr>
              <a:t>Accept text, image or voice input and generate creative posts aligned with brand tone</a:t>
            </a:r>
          </a:p>
        </p:txBody>
      </p:sp>
      <p:sp>
        <p:nvSpPr>
          <p:cNvPr id="100020" name="F3"/>
          <p:cNvSpPr txBox="1"/>
          <p:nvPr/>
        </p:nvSpPr>
        <p:spPr>
          <a:xfrm xmlns:a="http://schemas.openxmlformats.org/drawingml/2006/main">
            <a:off x="540000" y="3708000"/>
            <a:ext cx="4860000" cy="12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D2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 b="0">
                <a:solidFill>
                  <a:srgbClr val="E8EAF0"/>
                </a:solidFill>
                <a:latin typeface="Segoe UI"/>
                <a:ea typeface="Segoe UI"/>
              </a:rPr>
              <a:t>Predictive &amp; Agentic Layer</a:t>
            </a:r>
          </a:p>
          <a:p xmlns:a="http://schemas.openxmlformats.org/drawingml/2006/main">
            <a:r>
              <a:rPr lang="en-US" sz="1500" b="0">
                <a:solidFill>
                  <a:srgbClr val="E8EAF0"/>
                </a:solidFill>
                <a:latin typeface="Segoe UI"/>
                <a:ea typeface="Segoe UI"/>
              </a:rPr>
              <a:t>Forecast trending hashtags, sentiment shifts and competitor patterns with best posting schedules</a:t>
            </a:r>
          </a:p>
        </p:txBody>
      </p:sp>
      <p:sp>
        <p:nvSpPr>
          <p:cNvPr id="100021" name="F4"/>
          <p:cNvSpPr txBox="1"/>
          <p:nvPr/>
        </p:nvSpPr>
        <p:spPr>
          <a:xfrm xmlns:a="http://schemas.openxmlformats.org/drawingml/2006/main">
            <a:off x="5940000" y="3708000"/>
            <a:ext cx="4860000" cy="12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D2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 b="0">
                <a:solidFill>
                  <a:srgbClr val="E8EAF0"/>
                </a:solidFill>
                <a:latin typeface="Segoe UI"/>
                <a:ea typeface="Segoe UI"/>
              </a:rPr>
              <a:t>Real-Time Dashboard</a:t>
            </a:r>
          </a:p>
          <a:p xmlns:a="http://schemas.openxmlformats.org/drawingml/2006/main">
            <a:r>
              <a:rPr lang="en-US" sz="1500" b="0">
                <a:solidFill>
                  <a:srgbClr val="E8EAF0"/>
                </a:solidFill>
                <a:latin typeface="Segoe UI"/>
                <a:ea typeface="Segoe UI"/>
              </a:rPr>
              <a:t>Visualize engagement trends, influencer mapping, sentiment tracking and campaign forecasts</a:t>
            </a:r>
          </a:p>
        </p:txBody>
      </p:sp>
    </p:spTree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A0F1E"/>
        </a:solidFill>
      </p:bgPr>
    </p:bg>
    <p:spTree>
      <p:nvGrpSpPr>
        <p:cNvPr id="1" name=""/>
        <p:cNvGrpSpPr/>
        <p:nvPr/>
      </p:nvGrpSpPr>
      <p:grpSpPr/>
      <p:sp>
        <p:nvSpPr>
          <p:cNvPr id="100022" name="AccentBar"/>
          <p:cNvSpPr txBox="1"/>
          <p:nvPr/>
        </p:nvSpPr>
        <p:spPr>
          <a:xfrm xmlns:a="http://schemas.openxmlformats.org/drawingml/2006/main">
            <a:off x="0" y="0"/>
            <a:ext cx="216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8EF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>
              <a:solidFill>
                <a:srgbClr val="4F8EF7"/>
              </a:solidFill>
            </a:endParaRPr>
          </a:p>
        </p:txBody>
      </p:sp>
      <p:sp>
        <p:nvSpPr>
          <p:cNvPr id="100023" name="SlideLabel"/>
          <p:cNvSpPr txBox="1"/>
          <p:nvPr/>
        </p:nvSpPr>
        <p:spPr>
          <a:xfrm xmlns:a="http://schemas.openxmlformats.org/drawingml/2006/main">
            <a:off x="540000" y="360000"/>
            <a:ext cx="7200000" cy="25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 b="1">
                <a:solidFill>
                  <a:srgbClr val="4F8EF7"/>
                </a:solidFill>
                <a:latin typeface="Segoe UI"/>
                <a:ea typeface="Segoe UI"/>
              </a:rPr>
              <a:t>SYSTEM DESIGN</a:t>
            </a:r>
          </a:p>
        </p:txBody>
      </p:sp>
      <p:sp>
        <p:nvSpPr>
          <p:cNvPr id="100024" name="SlideTitle"/>
          <p:cNvSpPr txBox="1"/>
          <p:nvPr/>
        </p:nvSpPr>
        <p:spPr>
          <a:xfrm xmlns:a="http://schemas.openxmlformats.org/drawingml/2006/main">
            <a:off x="540000" y="648000"/>
            <a:ext cx="10800000" cy="72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800" b="1">
                <a:solidFill>
                  <a:srgbClr val="FFFFFF"/>
                </a:solidFill>
                <a:latin typeface="Segoe UI"/>
                <a:ea typeface="Segoe UI"/>
              </a:rPr>
              <a:t>Architecture Overview</a:t>
            </a:r>
          </a:p>
        </p:txBody>
      </p:sp>
      <p:sp>
        <p:nvSpPr>
          <p:cNvPr id="100025" name="Layer1"/>
          <p:cNvSpPr txBox="1"/>
          <p:nvPr/>
        </p:nvSpPr>
        <p:spPr>
          <a:xfrm xmlns:a="http://schemas.openxmlformats.org/drawingml/2006/main">
            <a:off x="540000" y="1548000"/>
            <a:ext cx="10800000" cy="79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 b="0">
                <a:solidFill>
                  <a:srgbClr val="E8EAF0"/>
                </a:solidFill>
                <a:latin typeface="Segoe UI"/>
                <a:ea typeface="Segoe UI"/>
              </a:rPr>
              <a:t>FRONTEND  —  React 18 + Tailwind CSS + Recharts</a:t>
            </a:r>
          </a:p>
          <a:p xmlns:a="http://schemas.openxmlformats.org/drawingml/2006/main">
            <a:r>
              <a:rPr lang="en-US" sz="1500" b="0">
                <a:solidFill>
                  <a:srgbClr val="E8EAF0"/>
                </a:solidFill>
                <a:latin typeface="Segoe UI"/>
                <a:ea typeface="Segoe UI"/>
              </a:rPr>
              <a:t>Dashboard  |  Content Studio  |  Sentiment  |  Hashtags  |  Competitors  |  Campaign  |  Scheduler</a:t>
            </a:r>
          </a:p>
        </p:txBody>
      </p:sp>
      <p:sp>
        <p:nvSpPr>
          <p:cNvPr id="100026" name="Arrow1"/>
          <p:cNvSpPr txBox="1"/>
          <p:nvPr/>
        </p:nvSpPr>
        <p:spPr>
          <a:xfrm xmlns:a="http://schemas.openxmlformats.org/drawingml/2006/main">
            <a:off x="4680000" y="2520000"/>
            <a:ext cx="2160000" cy="25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 b="0">
                <a:solidFill>
                  <a:srgbClr val="4F8EF7"/>
                </a:solidFill>
                <a:latin typeface="Segoe UI"/>
                <a:ea typeface="Segoe UI"/>
              </a:rPr>
              <a:t>REST API + WebSocket</a:t>
            </a:r>
          </a:p>
        </p:txBody>
      </p:sp>
      <p:sp>
        <p:nvSpPr>
          <p:cNvPr id="100027" name="Layer2"/>
          <p:cNvSpPr txBox="1"/>
          <p:nvPr/>
        </p:nvSpPr>
        <p:spPr>
          <a:xfrm xmlns:a="http://schemas.openxmlformats.org/drawingml/2006/main">
            <a:off x="540000" y="2808000"/>
            <a:ext cx="10800000" cy="79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A5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 b="0">
                <a:solidFill>
                  <a:srgbClr val="E8EAF0"/>
                </a:solidFill>
                <a:latin typeface="Segoe UI"/>
                <a:ea typeface="Segoe UI"/>
              </a:rPr>
              <a:t>BACKEND  —  FastAPI (Python 3.11) + Uvicorn</a:t>
            </a:r>
          </a:p>
          <a:p xmlns:a="http://schemas.openxmlformats.org/drawingml/2006/main">
            <a:r>
              <a:rPr lang="en-US" sz="1500" b="0">
                <a:solidFill>
                  <a:srgbClr val="E8EAF0"/>
                </a:solidFill>
                <a:latin typeface="Segoe UI"/>
                <a:ea typeface="Segoe UI"/>
              </a:rPr>
              <a:t>/api/agent   /api/analytics   /api/platforms   /api/schedule</a:t>
            </a:r>
          </a:p>
        </p:txBody>
      </p:sp>
      <p:sp>
        <p:nvSpPr>
          <p:cNvPr id="100028" name="Layer3a"/>
          <p:cNvSpPr txBox="1"/>
          <p:nvPr/>
        </p:nvSpPr>
        <p:spPr>
          <a:xfrm xmlns:a="http://schemas.openxmlformats.org/drawingml/2006/main">
            <a:off x="540000" y="3960000"/>
            <a:ext cx="2520000" cy="10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536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0">
                <a:solidFill>
                  <a:srgbClr val="E8EAF0"/>
                </a:solidFill>
                <a:latin typeface="Segoe UI"/>
                <a:ea typeface="Segoe UI"/>
              </a:rPr>
              <a:t>IBM watsonx.ai</a:t>
            </a:r>
          </a:p>
          <a:p xmlns:a="http://schemas.openxmlformats.org/drawingml/2006/main">
            <a:r>
              <a:rPr lang="en-US" sz="1400" b="0">
                <a:solidFill>
                  <a:srgbClr val="E8EAF0"/>
                </a:solidFill>
                <a:latin typeface="Segoe UI"/>
                <a:ea typeface="Segoe UI"/>
              </a:rPr>
              <a:t>Granite LLM</a:t>
            </a:r>
          </a:p>
          <a:p xmlns:a="http://schemas.openxmlformats.org/drawingml/2006/main">
            <a:r>
              <a:rPr lang="en-US" sz="1400" b="0">
                <a:solidFill>
                  <a:srgbClr val="E8EAF0"/>
                </a:solidFill>
                <a:latin typeface="Segoe UI"/>
                <a:ea typeface="Segoe UI"/>
              </a:rPr>
              <a:t>Embeddings</a:t>
            </a:r>
          </a:p>
          <a:p xmlns:a="http://schemas.openxmlformats.org/drawingml/2006/main">
            <a:r>
              <a:rPr lang="en-US" sz="1400" b="0">
                <a:solidFill>
                  <a:srgbClr val="E8EAF0"/>
                </a:solidFill>
                <a:latin typeface="Segoe UI"/>
                <a:ea typeface="Segoe UI"/>
              </a:rPr>
              <a:t>Sentiment</a:t>
            </a:r>
          </a:p>
        </p:txBody>
      </p:sp>
      <p:sp>
        <p:nvSpPr>
          <p:cNvPr id="100029" name="Layer3b"/>
          <p:cNvSpPr txBox="1"/>
          <p:nvPr/>
        </p:nvSpPr>
        <p:spPr>
          <a:xfrm xmlns:a="http://schemas.openxmlformats.org/drawingml/2006/main">
            <a:off x="3420000" y="3960000"/>
            <a:ext cx="2520000" cy="10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536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0">
                <a:solidFill>
                  <a:srgbClr val="E8EAF0"/>
                </a:solidFill>
                <a:latin typeface="Segoe UI"/>
                <a:ea typeface="Segoe UI"/>
              </a:rPr>
              <a:t>IBM Langflow</a:t>
            </a:r>
          </a:p>
          <a:p xmlns:a="http://schemas.openxmlformats.org/drawingml/2006/main">
            <a:r>
              <a:rPr lang="en-US" sz="1400" b="0">
                <a:solidFill>
                  <a:srgbClr val="E8EAF0"/>
                </a:solidFill>
                <a:latin typeface="Segoe UI"/>
                <a:ea typeface="Segoe UI"/>
              </a:rPr>
              <a:t>Flow Orchestration</a:t>
            </a:r>
          </a:p>
          <a:p xmlns:a="http://schemas.openxmlformats.org/drawingml/2006/main">
            <a:r>
              <a:rPr lang="en-US" sz="1400" b="0">
                <a:solidFill>
                  <a:srgbClr val="E8EAF0"/>
                </a:solidFill>
                <a:latin typeface="Segoe UI"/>
                <a:ea typeface="Segoe UI"/>
              </a:rPr>
              <a:t>Prompt Chains</a:t>
            </a:r>
          </a:p>
          <a:p xmlns:a="http://schemas.openxmlformats.org/drawingml/2006/main">
            <a:r>
              <a:rPr lang="en-US" sz="1400" b="0">
                <a:solidFill>
                  <a:srgbClr val="E8EAF0"/>
                </a:solidFill>
                <a:latin typeface="Segoe UI"/>
                <a:ea typeface="Segoe UI"/>
              </a:rPr>
              <a:t>Tool Routing</a:t>
            </a:r>
          </a:p>
        </p:txBody>
      </p:sp>
      <p:sp>
        <p:nvSpPr>
          <p:cNvPr id="100030" name="Layer3c"/>
          <p:cNvSpPr txBox="1"/>
          <p:nvPr/>
        </p:nvSpPr>
        <p:spPr>
          <a:xfrm xmlns:a="http://schemas.openxmlformats.org/drawingml/2006/main">
            <a:off x="6300000" y="3960000"/>
            <a:ext cx="2520000" cy="10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536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0">
                <a:solidFill>
                  <a:srgbClr val="E8EAF0"/>
                </a:solidFill>
                <a:latin typeface="Segoe UI"/>
                <a:ea typeface="Segoe UI"/>
              </a:rPr>
              <a:t>Platform Connectors</a:t>
            </a:r>
          </a:p>
          <a:p xmlns:a="http://schemas.openxmlformats.org/drawingml/2006/main">
            <a:r>
              <a:rPr lang="en-US" sz="1400" b="0">
                <a:solidFill>
                  <a:srgbClr val="E8EAF0"/>
                </a:solidFill>
                <a:latin typeface="Segoe UI"/>
                <a:ea typeface="Segoe UI"/>
              </a:rPr>
              <a:t>X (Twitter) API v2</a:t>
            </a:r>
          </a:p>
          <a:p xmlns:a="http://schemas.openxmlformats.org/drawingml/2006/main">
            <a:r>
              <a:rPr lang="en-US" sz="1400" b="0">
                <a:solidFill>
                  <a:srgbClr val="E8EAF0"/>
                </a:solidFill>
                <a:latin typeface="Segoe UI"/>
                <a:ea typeface="Segoe UI"/>
              </a:rPr>
              <a:t>LinkedIn API</a:t>
            </a:r>
          </a:p>
          <a:p xmlns:a="http://schemas.openxmlformats.org/drawingml/2006/main">
            <a:r>
              <a:rPr lang="en-US" sz="1400" b="0">
                <a:solidFill>
                  <a:srgbClr val="E8EAF0"/>
                </a:solidFill>
                <a:latin typeface="Segoe UI"/>
                <a:ea typeface="Segoe UI"/>
              </a:rPr>
              <a:t>Instagram + Facebook</a:t>
            </a:r>
          </a:p>
        </p:txBody>
      </p:sp>
      <p:sp>
        <p:nvSpPr>
          <p:cNvPr id="100031" name="Layer3d"/>
          <p:cNvSpPr txBox="1"/>
          <p:nvPr/>
        </p:nvSpPr>
        <p:spPr>
          <a:xfrm xmlns:a="http://schemas.openxmlformats.org/drawingml/2006/main">
            <a:off x="9180000" y="3960000"/>
            <a:ext cx="2160000" cy="10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536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0">
                <a:solidFill>
                  <a:srgbClr val="E8EAF0"/>
                </a:solidFill>
                <a:latin typeface="Segoe UI"/>
                <a:ea typeface="Segoe UI"/>
              </a:rPr>
              <a:t>Storage</a:t>
            </a:r>
          </a:p>
          <a:p xmlns:a="http://schemas.openxmlformats.org/drawingml/2006/main">
            <a:r>
              <a:rPr lang="en-US" sz="1400" b="0">
                <a:solidFill>
                  <a:srgbClr val="E8EAF0"/>
                </a:solidFill>
                <a:latin typeface="Segoe UI"/>
                <a:ea typeface="Segoe UI"/>
              </a:rPr>
              <a:t>PostgreSQL</a:t>
            </a:r>
          </a:p>
          <a:p xmlns:a="http://schemas.openxmlformats.org/drawingml/2006/main">
            <a:r>
              <a:rPr lang="en-US" sz="1400" b="0">
                <a:solidFill>
                  <a:srgbClr val="E8EAF0"/>
                </a:solidFill>
                <a:latin typeface="Segoe UI"/>
                <a:ea typeface="Segoe UI"/>
              </a:rPr>
              <a:t>Redis Cache</a:t>
            </a:r>
          </a:p>
          <a:p xmlns:a="http://schemas.openxmlformats.org/drawingml/2006/main">
            <a:r>
              <a:rPr lang="en-US" sz="1400" b="0">
                <a:solidFill>
                  <a:srgbClr val="E8EAF0"/>
                </a:solidFill>
                <a:latin typeface="Segoe UI"/>
                <a:ea typeface="Segoe UI"/>
              </a:rPr>
              <a:t>Milvus Vectors</a:t>
            </a:r>
          </a:p>
        </p:txBody>
      </p:sp>
    </p:spTree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A0F1E"/>
        </a:solidFill>
      </p:bgPr>
    </p:bg>
    <p:spTree>
      <p:nvGrpSpPr>
        <p:cNvPr id="1" name=""/>
        <p:cNvGrpSpPr/>
        <p:nvPr/>
      </p:nvGrpSpPr>
      <p:grpSpPr/>
      <p:sp>
        <p:nvSpPr>
          <p:cNvPr id="100032" name="AccentBar"/>
          <p:cNvSpPr txBox="1"/>
          <p:nvPr/>
        </p:nvSpPr>
        <p:spPr>
          <a:xfrm xmlns:a="http://schemas.openxmlformats.org/drawingml/2006/main">
            <a:off x="0" y="0"/>
            <a:ext cx="216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>
              <a:solidFill>
                <a:srgbClr val="22C55E"/>
              </a:solidFill>
            </a:endParaRPr>
          </a:p>
        </p:txBody>
      </p:sp>
      <p:sp>
        <p:nvSpPr>
          <p:cNvPr id="100033" name="SlideLabel"/>
          <p:cNvSpPr txBox="1"/>
          <p:nvPr/>
        </p:nvSpPr>
        <p:spPr>
          <a:xfrm xmlns:a="http://schemas.openxmlformats.org/drawingml/2006/main">
            <a:off x="540000" y="360000"/>
            <a:ext cx="7200000" cy="25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 b="1">
                <a:solidFill>
                  <a:srgbClr val="22C55E"/>
                </a:solidFill>
                <a:latin typeface="Segoe UI"/>
                <a:ea typeface="Segoe UI"/>
              </a:rPr>
              <a:t>IBM AI INTEGRATION</a:t>
            </a:r>
          </a:p>
        </p:txBody>
      </p:sp>
      <p:sp>
        <p:nvSpPr>
          <p:cNvPr id="100034" name="SlideTitle"/>
          <p:cNvSpPr txBox="1"/>
          <p:nvPr/>
        </p:nvSpPr>
        <p:spPr>
          <a:xfrm xmlns:a="http://schemas.openxmlformats.org/drawingml/2006/main">
            <a:off x="540000" y="648000"/>
            <a:ext cx="10800000" cy="72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800" b="1">
                <a:solidFill>
                  <a:srgbClr val="FFFFFF"/>
                </a:solidFill>
                <a:latin typeface="Segoe UI"/>
                <a:ea typeface="Segoe UI"/>
              </a:rPr>
              <a:t>IBM watsonx + Langflow</a:t>
            </a:r>
          </a:p>
        </p:txBody>
      </p:sp>
      <p:sp>
        <p:nvSpPr>
          <p:cNvPr id="100035" name="WX"/>
          <p:cNvSpPr txBox="1"/>
          <p:nvPr/>
        </p:nvSpPr>
        <p:spPr>
          <a:xfrm xmlns:a="http://schemas.openxmlformats.org/drawingml/2006/main">
            <a:off x="540000" y="1512000"/>
            <a:ext cx="5040000" cy="36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D2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 b="0">
                <a:solidFill>
                  <a:srgbClr val="E8EAF0"/>
                </a:solidFill>
                <a:latin typeface="Segoe UI"/>
                <a:ea typeface="Segoe UI"/>
              </a:rPr>
              <a:t>IBM watsonx.ai</a:t>
            </a:r>
          </a:p>
          <a:p xmlns:a="http://schemas.openxmlformats.org/drawingml/2006/main">
            <a:r>
              <a:rPr lang="en-US" sz="1500" b="0">
                <a:solidFill>
                  <a:srgbClr val="E8EAF0"/>
                </a:solidFill>
                <a:latin typeface="Segoe UI"/>
                <a:ea typeface="Segoe UI"/>
              </a:rPr>
              <a:t/>
            </a:r>
          </a:p>
          <a:p xmlns:a="http://schemas.openxmlformats.org/drawingml/2006/main">
            <a:r>
              <a:rPr lang="en-US" sz="1500" b="0">
                <a:solidFill>
                  <a:srgbClr val="E8EAF0"/>
                </a:solidFill>
                <a:latin typeface="Segoe UI"/>
                <a:ea typeface="Segoe UI"/>
              </a:rPr>
              <a:t>Model: ibm/granite-13b-chat-v2</a:t>
            </a:r>
          </a:p>
          <a:p xmlns:a="http://schemas.openxmlformats.org/drawingml/2006/main">
            <a:r>
              <a:rPr lang="en-US" sz="1500" b="0">
                <a:solidFill>
                  <a:srgbClr val="E8EAF0"/>
                </a:solidFill>
                <a:latin typeface="Segoe UI"/>
                <a:ea typeface="Segoe UI"/>
              </a:rPr>
              <a:t/>
            </a:r>
          </a:p>
          <a:p xmlns:a="http://schemas.openxmlformats.org/drawingml/2006/main">
            <a:r>
              <a:rPr lang="en-US" sz="1500" b="0">
                <a:solidFill>
                  <a:srgbClr val="E8EAF0"/>
                </a:solidFill>
                <a:latin typeface="Segoe UI"/>
                <a:ea typeface="Segoe UI"/>
              </a:rPr>
              <a:t>Capabilities used:</a:t>
            </a:r>
          </a:p>
          <a:p xmlns:a="http://schemas.openxmlformats.org/drawingml/2006/main">
            <a:r>
              <a:rPr lang="en-US" sz="1500" b="0">
                <a:solidFill>
                  <a:srgbClr val="E8EAF0"/>
                </a:solidFill>
                <a:latin typeface="Segoe UI"/>
                <a:ea typeface="Segoe UI"/>
              </a:rPr>
              <a:t>- Text generation (post drafts)</a:t>
            </a:r>
          </a:p>
          <a:p xmlns:a="http://schemas.openxmlformats.org/drawingml/2006/main">
            <a:r>
              <a:rPr lang="en-US" sz="1500" b="0">
                <a:solidFill>
                  <a:srgbClr val="E8EAF0"/>
                </a:solidFill>
                <a:latin typeface="Segoe UI"/>
                <a:ea typeface="Segoe UI"/>
              </a:rPr>
              <a:t>- Sentiment analysis (JSON output)</a:t>
            </a:r>
          </a:p>
          <a:p xmlns:a="http://schemas.openxmlformats.org/drawingml/2006/main">
            <a:r>
              <a:rPr lang="en-US" sz="1500" b="0">
                <a:solidFill>
                  <a:srgbClr val="E8EAF0"/>
                </a:solidFill>
                <a:latin typeface="Segoe UI"/>
                <a:ea typeface="Segoe UI"/>
              </a:rPr>
              <a:t>- Semantic embeddings (vector search)</a:t>
            </a:r>
          </a:p>
          <a:p xmlns:a="http://schemas.openxmlformats.org/drawingml/2006/main">
            <a:r>
              <a:rPr lang="en-US" sz="1500" b="0">
                <a:solidFill>
                  <a:srgbClr val="E8EAF0"/>
                </a:solidFill>
                <a:latin typeface="Segoe UI"/>
                <a:ea typeface="Segoe UI"/>
              </a:rPr>
              <a:t>- Competitor insight narratives</a:t>
            </a:r>
          </a:p>
          <a:p xmlns:a="http://schemas.openxmlformats.org/drawingml/2006/main">
            <a:r>
              <a:rPr lang="en-US" sz="1500" b="0">
                <a:solidFill>
                  <a:srgbClr val="E8EAF0"/>
                </a:solidFill>
                <a:latin typeface="Segoe UI"/>
                <a:ea typeface="Segoe UI"/>
              </a:rPr>
              <a:t/>
            </a:r>
          </a:p>
          <a:p xmlns:a="http://schemas.openxmlformats.org/drawingml/2006/main">
            <a:r>
              <a:rPr lang="en-US" sz="1500" b="0">
                <a:solidFill>
                  <a:srgbClr val="E8EAF0"/>
                </a:solidFill>
                <a:latin typeface="Segoe UI"/>
                <a:ea typeface="Segoe UI"/>
              </a:rPr>
              <a:t>Auth: API Key from cloud.ibm.com</a:t>
            </a:r>
          </a:p>
        </p:txBody>
      </p:sp>
      <p:sp>
        <p:nvSpPr>
          <p:cNvPr id="100036" name="LF"/>
          <p:cNvSpPr txBox="1"/>
          <p:nvPr/>
        </p:nvSpPr>
        <p:spPr>
          <a:xfrm xmlns:a="http://schemas.openxmlformats.org/drawingml/2006/main">
            <a:off x="6120000" y="1512000"/>
            <a:ext cx="5040000" cy="36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D2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 b="0">
                <a:solidFill>
                  <a:srgbClr val="E8EAF0"/>
                </a:solidFill>
                <a:latin typeface="Segoe UI"/>
                <a:ea typeface="Segoe UI"/>
              </a:rPr>
              <a:t>IBM Langflow</a:t>
            </a:r>
          </a:p>
          <a:p xmlns:a="http://schemas.openxmlformats.org/drawingml/2006/main">
            <a:r>
              <a:rPr lang="en-US" sz="1500" b="0">
                <a:solidFill>
                  <a:srgbClr val="E8EAF0"/>
                </a:solidFill>
                <a:latin typeface="Segoe UI"/>
                <a:ea typeface="Segoe UI"/>
              </a:rPr>
              <a:t/>
            </a:r>
          </a:p>
          <a:p xmlns:a="http://schemas.openxmlformats.org/drawingml/2006/main">
            <a:r>
              <a:rPr lang="en-US" sz="1500" b="0">
                <a:solidFill>
                  <a:srgbClr val="E8EAF0"/>
                </a:solidFill>
                <a:latin typeface="Segoe UI"/>
                <a:ea typeface="Segoe UI"/>
              </a:rPr>
              <a:t>Flow nodes:</a:t>
            </a:r>
          </a:p>
          <a:p xmlns:a="http://schemas.openxmlformats.org/drawingml/2006/main">
            <a:r>
              <a:rPr lang="en-US" sz="1500" b="0">
                <a:solidFill>
                  <a:srgbClr val="E8EAF0"/>
                </a:solidFill>
                <a:latin typeface="Segoe UI"/>
                <a:ea typeface="Segoe UI"/>
              </a:rPr>
              <a:t>User Input → Brand Tone Loader</a:t>
            </a:r>
          </a:p>
          <a:p xmlns:a="http://schemas.openxmlformats.org/drawingml/2006/main">
            <a:r>
              <a:rPr lang="en-US" sz="1500" b="0">
                <a:solidFill>
                  <a:srgbClr val="E8EAF0"/>
                </a:solidFill>
                <a:latin typeface="Segoe UI"/>
                <a:ea typeface="Segoe UI"/>
              </a:rPr>
              <a:t>→ IBM watsonx LLM Node</a:t>
            </a:r>
          </a:p>
          <a:p xmlns:a="http://schemas.openxmlformats.org/drawingml/2006/main">
            <a:r>
              <a:rPr lang="en-US" sz="1500" b="0">
                <a:solidFill>
                  <a:srgbClr val="E8EAF0"/>
                </a:solidFill>
                <a:latin typeface="Segoe UI"/>
                <a:ea typeface="Segoe UI"/>
              </a:rPr>
              <a:t>→ Platform Formatter → Output</a:t>
            </a:r>
          </a:p>
          <a:p xmlns:a="http://schemas.openxmlformats.org/drawingml/2006/main">
            <a:r>
              <a:rPr lang="en-US" sz="1500" b="0">
                <a:solidFill>
                  <a:srgbClr val="E8EAF0"/>
                </a:solidFill>
                <a:latin typeface="Segoe UI"/>
                <a:ea typeface="Segoe UI"/>
              </a:rPr>
              <a:t/>
            </a:r>
          </a:p>
          <a:p xmlns:a="http://schemas.openxmlformats.org/drawingml/2006/main">
            <a:r>
              <a:rPr lang="en-US" sz="1500" b="0">
                <a:solidFill>
                  <a:srgbClr val="E8EAF0"/>
                </a:solidFill>
                <a:latin typeface="Segoe UI"/>
                <a:ea typeface="Segoe UI"/>
              </a:rPr>
              <a:t>Exposes REST endpoint:</a:t>
            </a:r>
          </a:p>
          <a:p xmlns:a="http://schemas.openxmlformats.org/drawingml/2006/main">
            <a:r>
              <a:rPr lang="en-US" sz="1500" b="0">
                <a:solidFill>
                  <a:srgbClr val="E8EAF0"/>
                </a:solidFill>
                <a:latin typeface="Segoe UI"/>
                <a:ea typeface="Segoe UI"/>
              </a:rPr>
              <a:t>POST /api/v1/run/{flow_id}</a:t>
            </a:r>
          </a:p>
          <a:p xmlns:a="http://schemas.openxmlformats.org/drawingml/2006/main">
            <a:r>
              <a:rPr lang="en-US" sz="1500" b="0">
                <a:solidFill>
                  <a:srgbClr val="E8EAF0"/>
                </a:solidFill>
                <a:latin typeface="Segoe UI"/>
                <a:ea typeface="Segoe UI"/>
              </a:rPr>
              <a:t/>
            </a:r>
          </a:p>
          <a:p xmlns:a="http://schemas.openxmlformats.org/drawingml/2006/main">
            <a:r>
              <a:rPr lang="en-US" sz="1500" b="0">
                <a:solidFill>
                  <a:srgbClr val="E8EAF0"/>
                </a:solidFill>
                <a:latin typeface="Segoe UI"/>
                <a:ea typeface="Segoe UI"/>
              </a:rPr>
              <a:t>Fallback: direct watsonx call</a:t>
            </a:r>
          </a:p>
          <a:p xmlns:a="http://schemas.openxmlformats.org/drawingml/2006/main">
            <a:r>
              <a:rPr lang="en-US" sz="1500" b="0">
                <a:solidFill>
                  <a:srgbClr val="E8EAF0"/>
                </a:solidFill>
                <a:latin typeface="Segoe UI"/>
                <a:ea typeface="Segoe UI"/>
              </a:rPr>
              <a:t>if Langflow not configured</a:t>
            </a:r>
          </a:p>
        </p:txBody>
      </p:sp>
      <p:sp>
        <p:nvSpPr>
          <p:cNvPr id="100037" name="MockNote"/>
          <p:cNvSpPr txBox="1"/>
          <p:nvPr/>
        </p:nvSpPr>
        <p:spPr>
          <a:xfrm xmlns:a="http://schemas.openxmlformats.org/drawingml/2006/main">
            <a:off x="540000" y="5580000"/>
            <a:ext cx="10800000" cy="32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1">
                <a:solidFill>
                  <a:srgbClr val="22C55E"/>
                </a:solidFill>
                <a:latin typeface="Segoe UI"/>
                <a:ea typeface="Segoe UI"/>
              </a:rPr>
              <a:t>All services have mock fallbacks — app runs fully offline without any API keys configured</a:t>
            </a:r>
          </a:p>
        </p:txBody>
      </p:sp>
    </p:spTree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A0F1E"/>
        </a:solidFill>
      </p:bgPr>
    </p:bg>
    <p:spTree>
      <p:nvGrpSpPr>
        <p:cNvPr id="1" name=""/>
        <p:cNvGrpSpPr/>
        <p:nvPr/>
      </p:nvGrpSpPr>
      <p:grpSpPr/>
      <p:sp>
        <p:nvSpPr>
          <p:cNvPr id="100038" name="AccentBar"/>
          <p:cNvSpPr txBox="1"/>
          <p:nvPr/>
        </p:nvSpPr>
        <p:spPr>
          <a:xfrm xmlns:a="http://schemas.openxmlformats.org/drawingml/2006/main">
            <a:off x="0" y="0"/>
            <a:ext cx="216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>
              <a:solidFill>
                <a:srgbClr val="F59E0B"/>
              </a:solidFill>
            </a:endParaRPr>
          </a:p>
        </p:txBody>
      </p:sp>
      <p:sp>
        <p:nvSpPr>
          <p:cNvPr id="100039" name="SlideLabel"/>
          <p:cNvSpPr txBox="1"/>
          <p:nvPr/>
        </p:nvSpPr>
        <p:spPr>
          <a:xfrm xmlns:a="http://schemas.openxmlformats.org/drawingml/2006/main">
            <a:off x="540000" y="360000"/>
            <a:ext cx="7200000" cy="25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 b="1">
                <a:solidFill>
                  <a:srgbClr val="F59E0B"/>
                </a:solidFill>
                <a:latin typeface="Segoe UI"/>
                <a:ea typeface="Segoe UI"/>
              </a:rPr>
              <a:t>AGENT TOOLS</a:t>
            </a:r>
          </a:p>
        </p:txBody>
      </p:sp>
      <p:sp>
        <p:nvSpPr>
          <p:cNvPr id="100040" name="SlideTitle"/>
          <p:cNvSpPr txBox="1"/>
          <p:nvPr/>
        </p:nvSpPr>
        <p:spPr>
          <a:xfrm xmlns:a="http://schemas.openxmlformats.org/drawingml/2006/main">
            <a:off x="540000" y="648000"/>
            <a:ext cx="10800000" cy="72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800" b="1">
                <a:solidFill>
                  <a:srgbClr val="FFFFFF"/>
                </a:solidFill>
                <a:latin typeface="Segoe UI"/>
                <a:ea typeface="Segoe UI"/>
              </a:rPr>
              <a:t>5 Agentic AI Tools</a:t>
            </a:r>
          </a:p>
        </p:txBody>
      </p:sp>
      <p:sp>
        <p:nvSpPr>
          <p:cNvPr id="100041" name="T1"/>
          <p:cNvSpPr txBox="1"/>
          <p:nvPr/>
        </p:nvSpPr>
        <p:spPr>
          <a:xfrm xmlns:a="http://schemas.openxmlformats.org/drawingml/2006/main">
            <a:off x="540000" y="1548000"/>
            <a:ext cx="10800000" cy="6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D2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 b="0">
                <a:solidFill>
                  <a:srgbClr val="E8EAF0"/>
                </a:solidFill>
                <a:latin typeface="Segoe UI"/>
                <a:ea typeface="Segoe UI"/>
              </a:rPr>
              <a:t>Tool A  —  Hashtag Trend Forecaster</a:t>
            </a:r>
          </a:p>
          <a:p xmlns:a="http://schemas.openxmlformats.org/drawingml/2006/main">
            <a:r>
              <a:rPr lang="en-US" sz="1500" b="0">
                <a:solidFill>
                  <a:srgbClr val="E8EAF0"/>
                </a:solidFill>
                <a:latin typeface="Segoe UI"/>
                <a:ea typeface="Segoe UI"/>
              </a:rPr>
              <a:t>Predicts top 10 hashtags for next 12 hours with confidence scores and volume projections</a:t>
            </a:r>
          </a:p>
        </p:txBody>
      </p:sp>
      <p:sp>
        <p:nvSpPr>
          <p:cNvPr id="100042" name="T2"/>
          <p:cNvSpPr txBox="1"/>
          <p:nvPr/>
        </p:nvSpPr>
        <p:spPr>
          <a:xfrm xmlns:a="http://schemas.openxmlformats.org/drawingml/2006/main">
            <a:off x="540000" y="2304000"/>
            <a:ext cx="10800000" cy="6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D2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 b="0">
                <a:solidFill>
                  <a:srgbClr val="E8EAF0"/>
                </a:solidFill>
                <a:latin typeface="Segoe UI"/>
                <a:ea typeface="Segoe UI"/>
              </a:rPr>
              <a:t>Tool B  —  Sentiment Drift Detector</a:t>
            </a:r>
          </a:p>
          <a:p xmlns:a="http://schemas.openxmlformats.org/drawingml/2006/main">
            <a:r>
              <a:rPr lang="en-US" sz="1500" b="0">
                <a:solidFill>
                  <a:srgbClr val="E8EAF0"/>
                </a:solidFill>
                <a:latin typeface="Segoe UI"/>
                <a:ea typeface="Segoe UI"/>
              </a:rPr>
              <a:t>Analyzes comment batches via IBM watsonx, triggers alert when negativity exceeds 40% in 2hr window</a:t>
            </a:r>
          </a:p>
        </p:txBody>
      </p:sp>
      <p:sp>
        <p:nvSpPr>
          <p:cNvPr id="100043" name="T3"/>
          <p:cNvSpPr txBox="1"/>
          <p:nvPr/>
        </p:nvSpPr>
        <p:spPr>
          <a:xfrm xmlns:a="http://schemas.openxmlformats.org/drawingml/2006/main">
            <a:off x="540000" y="3060000"/>
            <a:ext cx="10800000" cy="6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D2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 b="0">
                <a:solidFill>
                  <a:srgbClr val="E8EAF0"/>
                </a:solidFill>
                <a:latin typeface="Segoe UI"/>
                <a:ea typeface="Segoe UI"/>
              </a:rPr>
              <a:t>Tool C  —  Competitor Intelligence Analyzer</a:t>
            </a:r>
          </a:p>
          <a:p xmlns:a="http://schemas.openxmlformats.org/drawingml/2006/main">
            <a:r>
              <a:rPr lang="en-US" sz="1500" b="0">
                <a:solidFill>
                  <a:srgbClr val="E8EAF0"/>
                </a:solidFill>
                <a:latin typeface="Segoe UI"/>
                <a:ea typeface="Segoe UI"/>
              </a:rPr>
              <a:t>Benchmarks your metrics vs rivals, AI generates 3 actionable content strategies to close the gap</a:t>
            </a:r>
          </a:p>
        </p:txBody>
      </p:sp>
      <p:sp>
        <p:nvSpPr>
          <p:cNvPr id="100044" name="T4"/>
          <p:cNvSpPr txBox="1"/>
          <p:nvPr/>
        </p:nvSpPr>
        <p:spPr>
          <a:xfrm xmlns:a="http://schemas.openxmlformats.org/drawingml/2006/main">
            <a:off x="540000" y="3816000"/>
            <a:ext cx="10800000" cy="6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D2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 b="0">
                <a:solidFill>
                  <a:srgbClr val="E8EAF0"/>
                </a:solidFill>
                <a:latin typeface="Segoe UI"/>
                <a:ea typeface="Segoe UI"/>
              </a:rPr>
              <a:t>Tool D  —  Optimal Posting Scheduler</a:t>
            </a:r>
          </a:p>
          <a:p xmlns:a="http://schemas.openxmlformats.org/drawingml/2006/main">
            <a:r>
              <a:rPr lang="en-US" sz="1500" b="0">
                <a:solidFill>
                  <a:srgbClr val="E8EAF0"/>
                </a:solidFill>
                <a:latin typeface="Segoe UI"/>
                <a:ea typeface="Segoe UI"/>
              </a:rPr>
              <a:t>Analyzes engagement patterns by hour and day, returns top 3 time slots per platform with approval queue</a:t>
            </a:r>
          </a:p>
        </p:txBody>
      </p:sp>
      <p:sp>
        <p:nvSpPr>
          <p:cNvPr id="100045" name="T5"/>
          <p:cNvSpPr txBox="1"/>
          <p:nvPr/>
        </p:nvSpPr>
        <p:spPr>
          <a:xfrm xmlns:a="http://schemas.openxmlformats.org/drawingml/2006/main">
            <a:off x="540000" y="4572000"/>
            <a:ext cx="10800000" cy="6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D2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 b="0">
                <a:solidFill>
                  <a:srgbClr val="E8EAF0"/>
                </a:solidFill>
                <a:latin typeface="Segoe UI"/>
                <a:ea typeface="Segoe UI"/>
              </a:rPr>
              <a:t>Tool E  —  Campaign Performance Forecaster</a:t>
            </a:r>
          </a:p>
          <a:p xmlns:a="http://schemas.openxmlformats.org/drawingml/2006/main">
            <a:r>
              <a:rPr lang="en-US" sz="1500" b="0">
                <a:solidFill>
                  <a:srgbClr val="E8EAF0"/>
                </a:solidFill>
                <a:latin typeface="Segoe UI"/>
                <a:ea typeface="Segoe UI"/>
              </a:rPr>
              <a:t>Predicts reach, impressions, clicks and engagement rate with confidence intervals before publishing</a:t>
            </a:r>
          </a:p>
        </p:txBody>
      </p:sp>
      <p:sp>
        <p:nvSpPr>
          <p:cNvPr id="100046" name="Pattern"/>
          <p:cNvSpPr txBox="1"/>
          <p:nvPr/>
        </p:nvSpPr>
        <p:spPr>
          <a:xfrm xmlns:a="http://schemas.openxmlformats.org/drawingml/2006/main">
            <a:off x="540000" y="5580000"/>
            <a:ext cx="10800000" cy="36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1">
                <a:solidFill>
                  <a:srgbClr val="F59E0B"/>
                </a:solidFill>
                <a:latin typeface="Segoe UI"/>
                <a:ea typeface="Segoe UI"/>
              </a:rPr>
              <a:t>All tools use ReAct (Reason + Act) pattern — the agent detects intent, selects the right tool, executes, and returns a structured response.</a:t>
            </a:r>
          </a:p>
        </p:txBody>
      </p:sp>
    </p:spTree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A0F1E"/>
        </a:solidFill>
      </p:bgPr>
    </p:bg>
    <p:spTree>
      <p:nvGrpSpPr>
        <p:cNvPr id="1" name=""/>
        <p:cNvGrpSpPr/>
        <p:nvPr/>
      </p:nvGrpSpPr>
      <p:grpSpPr/>
      <p:sp>
        <p:nvSpPr>
          <p:cNvPr id="100047" name="AccentBar"/>
          <p:cNvSpPr txBox="1"/>
          <p:nvPr/>
        </p:nvSpPr>
        <p:spPr>
          <a:xfrm xmlns:a="http://schemas.openxmlformats.org/drawingml/2006/main">
            <a:off x="0" y="0"/>
            <a:ext cx="216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489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>
              <a:solidFill>
                <a:srgbClr val="EC4899"/>
              </a:solidFill>
            </a:endParaRPr>
          </a:p>
        </p:txBody>
      </p:sp>
      <p:sp>
        <p:nvSpPr>
          <p:cNvPr id="100048" name="SlideLabel"/>
          <p:cNvSpPr txBox="1"/>
          <p:nvPr/>
        </p:nvSpPr>
        <p:spPr>
          <a:xfrm xmlns:a="http://schemas.openxmlformats.org/drawingml/2006/main">
            <a:off x="540000" y="360000"/>
            <a:ext cx="7200000" cy="25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 b="1">
                <a:solidFill>
                  <a:srgbClr val="EC4899"/>
                </a:solidFill>
                <a:latin typeface="Segoe UI"/>
                <a:ea typeface="Segoe UI"/>
              </a:rPr>
              <a:t>DASHBOARD FEATURES</a:t>
            </a:r>
          </a:p>
        </p:txBody>
      </p:sp>
      <p:sp>
        <p:nvSpPr>
          <p:cNvPr id="100049" name="SlideTitle"/>
          <p:cNvSpPr txBox="1"/>
          <p:nvPr/>
        </p:nvSpPr>
        <p:spPr>
          <a:xfrm xmlns:a="http://schemas.openxmlformats.org/drawingml/2006/main">
            <a:off x="540000" y="648000"/>
            <a:ext cx="10800000" cy="72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800" b="1">
                <a:solidFill>
                  <a:srgbClr val="FFFFFF"/>
                </a:solidFill>
                <a:latin typeface="Segoe UI"/>
                <a:ea typeface="Segoe UI"/>
              </a:rPr>
              <a:t>7-Panel React Dashboard</a:t>
            </a:r>
          </a:p>
        </p:txBody>
      </p:sp>
      <p:sp>
        <p:nvSpPr>
          <p:cNvPr id="100050" name="P1"/>
          <p:cNvSpPr txBox="1"/>
          <p:nvPr/>
        </p:nvSpPr>
        <p:spPr>
          <a:xfrm xmlns:a="http://schemas.openxmlformats.org/drawingml/2006/main">
            <a:off x="540000" y="1548000"/>
            <a:ext cx="3240000" cy="9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D2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0">
                <a:solidFill>
                  <a:srgbClr val="E8EAF0"/>
                </a:solidFill>
                <a:latin typeface="Segoe UI"/>
                <a:ea typeface="Segoe UI"/>
              </a:rPr>
              <a:t>Dashboard</a:t>
            </a:r>
          </a:p>
          <a:p xmlns:a="http://schemas.openxmlformats.org/drawingml/2006/main">
            <a:r>
              <a:rPr lang="en-US" sz="1300" b="0">
                <a:solidFill>
                  <a:srgbClr val="E8EAF0"/>
                </a:solidFill>
                <a:latin typeface="Segoe UI"/>
                <a:ea typeface="Segoe UI"/>
              </a:rPr>
              <a:t>KPI cards + engagement area chart + platform bar charts — loads live from backend</a:t>
            </a:r>
          </a:p>
        </p:txBody>
      </p:sp>
      <p:sp>
        <p:nvSpPr>
          <p:cNvPr id="100051" name="P2"/>
          <p:cNvSpPr txBox="1"/>
          <p:nvPr/>
        </p:nvSpPr>
        <p:spPr>
          <a:xfrm xmlns:a="http://schemas.openxmlformats.org/drawingml/2006/main">
            <a:off x="4140000" y="1548000"/>
            <a:ext cx="3240000" cy="9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D2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0">
                <a:solidFill>
                  <a:srgbClr val="E8EAF0"/>
                </a:solidFill>
                <a:latin typeface="Segoe UI"/>
                <a:ea typeface="Segoe UI"/>
              </a:rPr>
              <a:t>Content Studio</a:t>
            </a:r>
          </a:p>
          <a:p xmlns:a="http://schemas.openxmlformats.org/drawingml/2006/main">
            <a:r>
              <a:rPr lang="en-US" sz="1300" b="0">
                <a:solidFill>
                  <a:srgbClr val="E8EAF0"/>
                </a:solidFill>
                <a:latin typeface="Segoe UI"/>
                <a:ea typeface="Segoe UI"/>
              </a:rPr>
              <a:t>Text + image upload + voice input — generates platform-specific posts via IBM watsonx</a:t>
            </a:r>
          </a:p>
        </p:txBody>
      </p:sp>
      <p:sp>
        <p:nvSpPr>
          <p:cNvPr id="100052" name="P3"/>
          <p:cNvSpPr txBox="1"/>
          <p:nvPr/>
        </p:nvSpPr>
        <p:spPr>
          <a:xfrm xmlns:a="http://schemas.openxmlformats.org/drawingml/2006/main">
            <a:off x="7740000" y="1548000"/>
            <a:ext cx="3240000" cy="9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D2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0">
                <a:solidFill>
                  <a:srgbClr val="E8EAF0"/>
                </a:solidFill>
                <a:latin typeface="Segoe UI"/>
                <a:ea typeface="Segoe UI"/>
              </a:rPr>
              <a:t>Sentiment Tracker</a:t>
            </a:r>
          </a:p>
          <a:p xmlns:a="http://schemas.openxmlformats.org/drawingml/2006/main">
            <a:r>
              <a:rPr lang="en-US" sz="1300" b="0">
                <a:solidFill>
                  <a:srgbClr val="E8EAF0"/>
                </a:solidFill>
                <a:latin typeface="Segoe UI"/>
                <a:ea typeface="Segoe UI"/>
              </a:rPr>
              <a:t>24-hour timeline + gauge + automatic drift alerts when negativity spikes</a:t>
            </a:r>
          </a:p>
        </p:txBody>
      </p:sp>
      <p:sp>
        <p:nvSpPr>
          <p:cNvPr id="100053" name="P4"/>
          <p:cNvSpPr txBox="1"/>
          <p:nvPr/>
        </p:nvSpPr>
        <p:spPr>
          <a:xfrm xmlns:a="http://schemas.openxmlformats.org/drawingml/2006/main">
            <a:off x="540000" y="2700000"/>
            <a:ext cx="3240000" cy="9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D2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0">
                <a:solidFill>
                  <a:srgbClr val="E8EAF0"/>
                </a:solidFill>
                <a:latin typeface="Segoe UI"/>
                <a:ea typeface="Segoe UI"/>
              </a:rPr>
              <a:t>Trending Hashtags</a:t>
            </a:r>
          </a:p>
          <a:p xmlns:a="http://schemas.openxmlformats.org/drawingml/2006/main">
            <a:r>
              <a:rPr lang="en-US" sz="1300" b="0">
                <a:solidFill>
                  <a:srgbClr val="E8EAF0"/>
                </a:solidFill>
                <a:latin typeface="Segoe UI"/>
                <a:ea typeface="Segoe UI"/>
              </a:rPr>
              <a:t>Horizontal bar chart + clickable cards with confidence bars and volume forecasts</a:t>
            </a:r>
          </a:p>
        </p:txBody>
      </p:sp>
      <p:sp>
        <p:nvSpPr>
          <p:cNvPr id="100054" name="P5"/>
          <p:cNvSpPr txBox="1"/>
          <p:nvPr/>
        </p:nvSpPr>
        <p:spPr>
          <a:xfrm xmlns:a="http://schemas.openxmlformats.org/drawingml/2006/main">
            <a:off x="4140000" y="2700000"/>
            <a:ext cx="3240000" cy="9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D2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0">
                <a:solidFill>
                  <a:srgbClr val="E8EAF0"/>
                </a:solidFill>
                <a:latin typeface="Segoe UI"/>
                <a:ea typeface="Segoe UI"/>
              </a:rPr>
              <a:t>Competitor Intelligence</a:t>
            </a:r>
          </a:p>
          <a:p xmlns:a="http://schemas.openxmlformats.org/drawingml/2006/main">
            <a:r>
              <a:rPr lang="en-US" sz="1300" b="0">
                <a:solidFill>
                  <a:srgbClr val="E8EAF0"/>
                </a:solidFill>
                <a:latin typeface="Segoe UI"/>
                <a:ea typeface="Segoe UI"/>
              </a:rPr>
              <a:t>Grouped bar chart + AI narrative insights + 4 actionable recommendations</a:t>
            </a:r>
          </a:p>
        </p:txBody>
      </p:sp>
      <p:sp>
        <p:nvSpPr>
          <p:cNvPr id="100055" name="P6"/>
          <p:cNvSpPr txBox="1"/>
          <p:nvPr/>
        </p:nvSpPr>
        <p:spPr>
          <a:xfrm xmlns:a="http://schemas.openxmlformats.org/drawingml/2006/main">
            <a:off x="7740000" y="2700000"/>
            <a:ext cx="3240000" cy="9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D2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0">
                <a:solidFill>
                  <a:srgbClr val="E8EAF0"/>
                </a:solidFill>
                <a:latin typeface="Segoe UI"/>
                <a:ea typeface="Segoe UI"/>
              </a:rPr>
              <a:t>Campaign Forecast</a:t>
            </a:r>
          </a:p>
          <a:p xmlns:a="http://schemas.openxmlformats.org/drawingml/2006/main">
            <a:r>
              <a:rPr lang="en-US" sz="1300" b="0">
                <a:solidFill>
                  <a:srgbClr val="E8EAF0"/>
                </a:solidFill>
                <a:latin typeface="Segoe UI"/>
                <a:ea typeface="Segoe UI"/>
              </a:rPr>
              <a:t>Input draft → predict reach, impressions, clicks + improvement tips</a:t>
            </a:r>
          </a:p>
        </p:txBody>
      </p:sp>
      <p:sp>
        <p:nvSpPr>
          <p:cNvPr id="100056" name="P7"/>
          <p:cNvSpPr txBox="1"/>
          <p:nvPr/>
        </p:nvSpPr>
        <p:spPr>
          <a:xfrm xmlns:a="http://schemas.openxmlformats.org/drawingml/2006/main">
            <a:off x="2340000" y="3852000"/>
            <a:ext cx="6480000" cy="9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D2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0">
                <a:solidFill>
                  <a:srgbClr val="E8EAF0"/>
                </a:solidFill>
                <a:latin typeface="Segoe UI"/>
                <a:ea typeface="Segoe UI"/>
              </a:rPr>
              <a:t>Scheduler</a:t>
            </a:r>
          </a:p>
          <a:p xmlns:a="http://schemas.openxmlformats.org/drawingml/2006/main">
            <a:r>
              <a:rPr lang="en-US" sz="1300" b="0">
                <a:solidFill>
                  <a:srgbClr val="E8EAF0"/>
                </a:solidFill>
                <a:latin typeface="Segoe UI"/>
                <a:ea typeface="Segoe UI"/>
              </a:rPr>
              <a:t>AI-recommended optimal time slots + post queue with approve / remove workflow</a:t>
            </a:r>
          </a:p>
        </p:txBody>
      </p:sp>
    </p:spTree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A0F1E"/>
        </a:solidFill>
      </p:bgPr>
    </p:bg>
    <p:spTree>
      <p:nvGrpSpPr>
        <p:cNvPr id="1" name=""/>
        <p:cNvGrpSpPr/>
        <p:nvPr/>
      </p:nvGrpSpPr>
      <p:grpSpPr/>
      <p:sp>
        <p:nvSpPr>
          <p:cNvPr id="100057" name="AccentBar"/>
          <p:cNvSpPr txBox="1"/>
          <p:nvPr/>
        </p:nvSpPr>
        <p:spPr>
          <a:xfrm xmlns:a="http://schemas.openxmlformats.org/drawingml/2006/main">
            <a:off x="0" y="0"/>
            <a:ext cx="216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B6D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>
              <a:solidFill>
                <a:srgbClr val="06B6D4"/>
              </a:solidFill>
            </a:endParaRPr>
          </a:p>
        </p:txBody>
      </p:sp>
      <p:sp>
        <p:nvSpPr>
          <p:cNvPr id="100058" name="SlideLabel"/>
          <p:cNvSpPr txBox="1"/>
          <p:nvPr/>
        </p:nvSpPr>
        <p:spPr>
          <a:xfrm xmlns:a="http://schemas.openxmlformats.org/drawingml/2006/main">
            <a:off x="540000" y="360000"/>
            <a:ext cx="7200000" cy="25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 b="1">
                <a:solidFill>
                  <a:srgbClr val="06B6D4"/>
                </a:solidFill>
                <a:latin typeface="Segoe UI"/>
                <a:ea typeface="Segoe UI"/>
              </a:rPr>
              <a:t>TECH STACK</a:t>
            </a:r>
          </a:p>
        </p:txBody>
      </p:sp>
      <p:sp>
        <p:nvSpPr>
          <p:cNvPr id="100059" name="SlideTitle"/>
          <p:cNvSpPr txBox="1"/>
          <p:nvPr/>
        </p:nvSpPr>
        <p:spPr>
          <a:xfrm xmlns:a="http://schemas.openxmlformats.org/drawingml/2006/main">
            <a:off x="540000" y="648000"/>
            <a:ext cx="10800000" cy="72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800" b="1">
                <a:solidFill>
                  <a:srgbClr val="FFFFFF"/>
                </a:solidFill>
                <a:latin typeface="Segoe UI"/>
                <a:ea typeface="Segoe UI"/>
              </a:rPr>
              <a:t>Technologies Used</a:t>
            </a:r>
          </a:p>
        </p:txBody>
      </p:sp>
      <p:sp>
        <p:nvSpPr>
          <p:cNvPr id="100060" name="Col1"/>
          <p:cNvSpPr txBox="1"/>
          <p:nvPr/>
        </p:nvSpPr>
        <p:spPr>
          <a:xfrm xmlns:a="http://schemas.openxmlformats.org/drawingml/2006/main">
            <a:off x="540000" y="1548000"/>
            <a:ext cx="2520000" cy="21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D2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0">
                <a:solidFill>
                  <a:srgbClr val="E8EAF0"/>
                </a:solidFill>
                <a:latin typeface="Segoe UI"/>
                <a:ea typeface="Segoe UI"/>
              </a:rPr>
              <a:t>AI / ML</a:t>
            </a:r>
          </a:p>
          <a:p xmlns:a="http://schemas.openxmlformats.org/drawingml/2006/main">
            <a:r>
              <a:rPr lang="en-US" sz="1400" b="0">
                <a:solidFill>
                  <a:srgbClr val="E8EAF0"/>
                </a:solidFill>
                <a:latin typeface="Segoe UI"/>
                <a:ea typeface="Segoe UI"/>
              </a:rPr>
              <a:t/>
            </a:r>
          </a:p>
          <a:p xmlns:a="http://schemas.openxmlformats.org/drawingml/2006/main">
            <a:r>
              <a:rPr lang="en-US" sz="1400" b="0">
                <a:solidFill>
                  <a:srgbClr val="E8EAF0"/>
                </a:solidFill>
                <a:latin typeface="Segoe UI"/>
                <a:ea typeface="Segoe UI"/>
              </a:rPr>
              <a:t>IBM watsonx.ai</a:t>
            </a:r>
          </a:p>
          <a:p xmlns:a="http://schemas.openxmlformats.org/drawingml/2006/main">
            <a:r>
              <a:rPr lang="en-US" sz="1400" b="0">
                <a:solidFill>
                  <a:srgbClr val="E8EAF0"/>
                </a:solidFill>
                <a:latin typeface="Segoe UI"/>
                <a:ea typeface="Segoe UI"/>
              </a:rPr>
              <a:t>IBM Langflow</a:t>
            </a:r>
          </a:p>
          <a:p xmlns:a="http://schemas.openxmlformats.org/drawingml/2006/main">
            <a:r>
              <a:rPr lang="en-US" sz="1400" b="0">
                <a:solidFill>
                  <a:srgbClr val="E8EAF0"/>
                </a:solidFill>
                <a:latin typeface="Segoe UI"/>
                <a:ea typeface="Segoe UI"/>
              </a:rPr>
              <a:t>Granite-13b-chat-v2</a:t>
            </a:r>
          </a:p>
          <a:p xmlns:a="http://schemas.openxmlformats.org/drawingml/2006/main">
            <a:r>
              <a:rPr lang="en-US" sz="1400" b="0">
                <a:solidFill>
                  <a:srgbClr val="E8EAF0"/>
                </a:solidFill>
                <a:latin typeface="Segoe UI"/>
                <a:ea typeface="Segoe UI"/>
              </a:rPr>
              <a:t>Sentiment Analysis</a:t>
            </a:r>
          </a:p>
          <a:p xmlns:a="http://schemas.openxmlformats.org/drawingml/2006/main">
            <a:r>
              <a:rPr lang="en-US" sz="1400" b="0">
                <a:solidFill>
                  <a:srgbClr val="E8EAF0"/>
                </a:solidFill>
                <a:latin typeface="Segoe UI"/>
                <a:ea typeface="Segoe UI"/>
              </a:rPr>
              <a:t>Vector Embeddings</a:t>
            </a:r>
          </a:p>
        </p:txBody>
      </p:sp>
      <p:sp>
        <p:nvSpPr>
          <p:cNvPr id="100061" name="Col2"/>
          <p:cNvSpPr txBox="1"/>
          <p:nvPr/>
        </p:nvSpPr>
        <p:spPr>
          <a:xfrm xmlns:a="http://schemas.openxmlformats.org/drawingml/2006/main">
            <a:off x="3420000" y="1548000"/>
            <a:ext cx="2520000" cy="21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D2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0">
                <a:solidFill>
                  <a:srgbClr val="E8EAF0"/>
                </a:solidFill>
                <a:latin typeface="Segoe UI"/>
                <a:ea typeface="Segoe UI"/>
              </a:rPr>
              <a:t>Backend</a:t>
            </a:r>
          </a:p>
          <a:p xmlns:a="http://schemas.openxmlformats.org/drawingml/2006/main">
            <a:r>
              <a:rPr lang="en-US" sz="1400" b="0">
                <a:solidFill>
                  <a:srgbClr val="E8EAF0"/>
                </a:solidFill>
                <a:latin typeface="Segoe UI"/>
                <a:ea typeface="Segoe UI"/>
              </a:rPr>
              <a:t/>
            </a:r>
          </a:p>
          <a:p xmlns:a="http://schemas.openxmlformats.org/drawingml/2006/main">
            <a:r>
              <a:rPr lang="en-US" sz="1400" b="0">
                <a:solidFill>
                  <a:srgbClr val="E8EAF0"/>
                </a:solidFill>
                <a:latin typeface="Segoe UI"/>
                <a:ea typeface="Segoe UI"/>
              </a:rPr>
              <a:t>Python 3.11</a:t>
            </a:r>
          </a:p>
          <a:p xmlns:a="http://schemas.openxmlformats.org/drawingml/2006/main">
            <a:r>
              <a:rPr lang="en-US" sz="1400" b="0">
                <a:solidFill>
                  <a:srgbClr val="E8EAF0"/>
                </a:solidFill>
                <a:latin typeface="Segoe UI"/>
                <a:ea typeface="Segoe UI"/>
              </a:rPr>
              <a:t>FastAPI</a:t>
            </a:r>
          </a:p>
          <a:p xmlns:a="http://schemas.openxmlformats.org/drawingml/2006/main">
            <a:r>
              <a:rPr lang="en-US" sz="1400" b="0">
                <a:solidFill>
                  <a:srgbClr val="E8EAF0"/>
                </a:solidFill>
                <a:latin typeface="Segoe UI"/>
                <a:ea typeface="Segoe UI"/>
              </a:rPr>
              <a:t>Uvicorn</a:t>
            </a:r>
          </a:p>
          <a:p xmlns:a="http://schemas.openxmlformats.org/drawingml/2006/main">
            <a:r>
              <a:rPr lang="en-US" sz="1400" b="0">
                <a:solidFill>
                  <a:srgbClr val="E8EAF0"/>
                </a:solidFill>
                <a:latin typeface="Segoe UI"/>
                <a:ea typeface="Segoe UI"/>
              </a:rPr>
              <a:t>pydantic-settings</a:t>
            </a:r>
          </a:p>
          <a:p xmlns:a="http://schemas.openxmlformats.org/drawingml/2006/main">
            <a:r>
              <a:rPr lang="en-US" sz="1400" b="0">
                <a:solidFill>
                  <a:srgbClr val="E8EAF0"/>
                </a:solidFill>
                <a:latin typeface="Segoe UI"/>
                <a:ea typeface="Segoe UI"/>
              </a:rPr>
              <a:t>loguru</a:t>
            </a:r>
          </a:p>
        </p:txBody>
      </p:sp>
      <p:sp>
        <p:nvSpPr>
          <p:cNvPr id="100062" name="Col3"/>
          <p:cNvSpPr txBox="1"/>
          <p:nvPr/>
        </p:nvSpPr>
        <p:spPr>
          <a:xfrm xmlns:a="http://schemas.openxmlformats.org/drawingml/2006/main">
            <a:off x="6300000" y="1548000"/>
            <a:ext cx="2520000" cy="21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D2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0">
                <a:solidFill>
                  <a:srgbClr val="E8EAF0"/>
                </a:solidFill>
                <a:latin typeface="Segoe UI"/>
                <a:ea typeface="Segoe UI"/>
              </a:rPr>
              <a:t>Frontend</a:t>
            </a:r>
          </a:p>
          <a:p xmlns:a="http://schemas.openxmlformats.org/drawingml/2006/main">
            <a:r>
              <a:rPr lang="en-US" sz="1400" b="0">
                <a:solidFill>
                  <a:srgbClr val="E8EAF0"/>
                </a:solidFill>
                <a:latin typeface="Segoe UI"/>
                <a:ea typeface="Segoe UI"/>
              </a:rPr>
              <a:t/>
            </a:r>
          </a:p>
          <a:p xmlns:a="http://schemas.openxmlformats.org/drawingml/2006/main">
            <a:r>
              <a:rPr lang="en-US" sz="1400" b="0">
                <a:solidFill>
                  <a:srgbClr val="E8EAF0"/>
                </a:solidFill>
                <a:latin typeface="Segoe UI"/>
                <a:ea typeface="Segoe UI"/>
              </a:rPr>
              <a:t>React 18</a:t>
            </a:r>
          </a:p>
          <a:p xmlns:a="http://schemas.openxmlformats.org/drawingml/2006/main">
            <a:r>
              <a:rPr lang="en-US" sz="1400" b="0">
                <a:solidFill>
                  <a:srgbClr val="E8EAF0"/>
                </a:solidFill>
                <a:latin typeface="Segoe UI"/>
                <a:ea typeface="Segoe UI"/>
              </a:rPr>
              <a:t>Vite</a:t>
            </a:r>
          </a:p>
          <a:p xmlns:a="http://schemas.openxmlformats.org/drawingml/2006/main">
            <a:r>
              <a:rPr lang="en-US" sz="1400" b="0">
                <a:solidFill>
                  <a:srgbClr val="E8EAF0"/>
                </a:solidFill>
                <a:latin typeface="Segoe UI"/>
                <a:ea typeface="Segoe UI"/>
              </a:rPr>
              <a:t>Tailwind CSS</a:t>
            </a:r>
          </a:p>
          <a:p xmlns:a="http://schemas.openxmlformats.org/drawingml/2006/main">
            <a:r>
              <a:rPr lang="en-US" sz="1400" b="0">
                <a:solidFill>
                  <a:srgbClr val="E8EAF0"/>
                </a:solidFill>
                <a:latin typeface="Segoe UI"/>
                <a:ea typeface="Segoe UI"/>
              </a:rPr>
              <a:t>Recharts</a:t>
            </a:r>
          </a:p>
          <a:p xmlns:a="http://schemas.openxmlformats.org/drawingml/2006/main">
            <a:r>
              <a:rPr lang="en-US" sz="1400" b="0">
                <a:solidFill>
                  <a:srgbClr val="E8EAF0"/>
                </a:solidFill>
                <a:latin typeface="Segoe UI"/>
                <a:ea typeface="Segoe UI"/>
              </a:rPr>
              <a:t>Lucide Icons</a:t>
            </a:r>
          </a:p>
        </p:txBody>
      </p:sp>
      <p:sp>
        <p:nvSpPr>
          <p:cNvPr id="100063" name="Col4"/>
          <p:cNvSpPr txBox="1"/>
          <p:nvPr/>
        </p:nvSpPr>
        <p:spPr>
          <a:xfrm xmlns:a="http://schemas.openxmlformats.org/drawingml/2006/main">
            <a:off x="9180000" y="1548000"/>
            <a:ext cx="2160000" cy="21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D2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0">
                <a:solidFill>
                  <a:srgbClr val="E8EAF0"/>
                </a:solidFill>
                <a:latin typeface="Segoe UI"/>
                <a:ea typeface="Segoe UI"/>
              </a:rPr>
              <a:t>Infrastructure</a:t>
            </a:r>
          </a:p>
          <a:p xmlns:a="http://schemas.openxmlformats.org/drawingml/2006/main">
            <a:r>
              <a:rPr lang="en-US" sz="1400" b="0">
                <a:solidFill>
                  <a:srgbClr val="E8EAF0"/>
                </a:solidFill>
                <a:latin typeface="Segoe UI"/>
                <a:ea typeface="Segoe UI"/>
              </a:rPr>
              <a:t/>
            </a:r>
          </a:p>
          <a:p xmlns:a="http://schemas.openxmlformats.org/drawingml/2006/main">
            <a:r>
              <a:rPr lang="en-US" sz="1400" b="0">
                <a:solidFill>
                  <a:srgbClr val="E8EAF0"/>
                </a:solidFill>
                <a:latin typeface="Segoe UI"/>
                <a:ea typeface="Segoe UI"/>
              </a:rPr>
              <a:t>Docker Compose</a:t>
            </a:r>
          </a:p>
          <a:p xmlns:a="http://schemas.openxmlformats.org/drawingml/2006/main">
            <a:r>
              <a:rPr lang="en-US" sz="1400" b="0">
                <a:solidFill>
                  <a:srgbClr val="E8EAF0"/>
                </a:solidFill>
                <a:latin typeface="Segoe UI"/>
                <a:ea typeface="Segoe UI"/>
              </a:rPr>
              <a:t>Nginx</a:t>
            </a:r>
          </a:p>
          <a:p xmlns:a="http://schemas.openxmlformats.org/drawingml/2006/main">
            <a:r>
              <a:rPr lang="en-US" sz="1400" b="0">
                <a:solidFill>
                  <a:srgbClr val="E8EAF0"/>
                </a:solidFill>
                <a:latin typeface="Segoe UI"/>
                <a:ea typeface="Segoe UI"/>
              </a:rPr>
              <a:t>PostgreSQL 16</a:t>
            </a:r>
          </a:p>
          <a:p xmlns:a="http://schemas.openxmlformats.org/drawingml/2006/main">
            <a:r>
              <a:rPr lang="en-US" sz="1400" b="0">
                <a:solidFill>
                  <a:srgbClr val="E8EAF0"/>
                </a:solidFill>
                <a:latin typeface="Segoe UI"/>
                <a:ea typeface="Segoe UI"/>
              </a:rPr>
              <a:t>Redis 7</a:t>
            </a:r>
          </a:p>
          <a:p xmlns:a="http://schemas.openxmlformats.org/drawingml/2006/main">
            <a:r>
              <a:rPr lang="en-US" sz="1400" b="0">
                <a:solidFill>
                  <a:srgbClr val="E8EAF0"/>
                </a:solidFill>
                <a:latin typeface="Segoe UI"/>
                <a:ea typeface="Segoe UI"/>
              </a:rPr>
              <a:t>Milvus (Vectors)</a:t>
            </a:r>
          </a:p>
        </p:txBody>
      </p:sp>
      <p:sp>
        <p:nvSpPr>
          <p:cNvPr id="100064" name="APIs"/>
          <p:cNvSpPr txBox="1"/>
          <p:nvPr/>
        </p:nvSpPr>
        <p:spPr>
          <a:xfrm xmlns:a="http://schemas.openxmlformats.org/drawingml/2006/main">
            <a:off x="540000" y="3960000"/>
            <a:ext cx="10800000" cy="3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536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0">
                <a:solidFill>
                  <a:srgbClr val="E8EAF0"/>
                </a:solidFill>
                <a:latin typeface="Segoe UI"/>
                <a:ea typeface="Segoe UI"/>
              </a:rPr>
              <a:t>Social APIs:  X (Twitter) API v2  |  LinkedIn API v2  |  Instagram Graph API  |  Facebook Graph API</a:t>
            </a:r>
          </a:p>
        </p:txBody>
      </p:sp>
      <p:sp>
        <p:nvSpPr>
          <p:cNvPr id="100065" name="Files"/>
          <p:cNvSpPr txBox="1"/>
          <p:nvPr/>
        </p:nvSpPr>
        <p:spPr>
          <a:xfrm xmlns:a="http://schemas.openxmlformats.org/drawingml/2006/main">
            <a:off x="540000" y="4608000"/>
            <a:ext cx="10800000" cy="32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1">
                <a:solidFill>
                  <a:srgbClr val="06B6D4"/>
                </a:solidFill>
                <a:latin typeface="Segoe UI"/>
                <a:ea typeface="Segoe UI"/>
              </a:rPr>
              <a:t>49 files built  •  17 Python modules  •  10 React components  •  0 syntax errors</a:t>
            </a:r>
          </a:p>
        </p:txBody>
      </p:sp>
    </p:spTree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A0F1E"/>
        </a:solidFill>
      </p:bgPr>
    </p:bg>
    <p:spTree>
      <p:nvGrpSpPr>
        <p:cNvPr id="1" name=""/>
        <p:cNvGrpSpPr/>
        <p:nvPr/>
      </p:nvGrpSpPr>
      <p:grpSpPr/>
      <p:sp>
        <p:nvSpPr>
          <p:cNvPr id="100066" name="AccentBar"/>
          <p:cNvSpPr txBox="1"/>
          <p:nvPr/>
        </p:nvSpPr>
        <p:spPr>
          <a:xfrm xmlns:a="http://schemas.openxmlformats.org/drawingml/2006/main">
            <a:off x="0" y="0"/>
            <a:ext cx="216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8EF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>
              <a:solidFill>
                <a:srgbClr val="4F8EF7"/>
              </a:solidFill>
            </a:endParaRPr>
          </a:p>
        </p:txBody>
      </p:sp>
      <p:sp>
        <p:nvSpPr>
          <p:cNvPr id="100067" name="SlideLabel"/>
          <p:cNvSpPr txBox="1"/>
          <p:nvPr/>
        </p:nvSpPr>
        <p:spPr>
          <a:xfrm xmlns:a="http://schemas.openxmlformats.org/drawingml/2006/main">
            <a:off x="540000" y="360000"/>
            <a:ext cx="7200000" cy="25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 b="1">
                <a:solidFill>
                  <a:srgbClr val="4F8EF7"/>
                </a:solidFill>
                <a:latin typeface="Segoe UI"/>
                <a:ea typeface="Segoe UI"/>
              </a:rPr>
              <a:t>QUICK START</a:t>
            </a:r>
          </a:p>
        </p:txBody>
      </p:sp>
      <p:sp>
        <p:nvSpPr>
          <p:cNvPr id="100068" name="SlideTitle"/>
          <p:cNvSpPr txBox="1"/>
          <p:nvPr/>
        </p:nvSpPr>
        <p:spPr>
          <a:xfrm xmlns:a="http://schemas.openxmlformats.org/drawingml/2006/main">
            <a:off x="540000" y="648000"/>
            <a:ext cx="10800000" cy="72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800" b="1">
                <a:solidFill>
                  <a:srgbClr val="FFFFFF"/>
                </a:solidFill>
                <a:latin typeface="Segoe UI"/>
                <a:ea typeface="Segoe UI"/>
              </a:rPr>
              <a:t>How to Run the Application</a:t>
            </a:r>
          </a:p>
        </p:txBody>
      </p:sp>
      <p:sp>
        <p:nvSpPr>
          <p:cNvPr id="100069" name="S1"/>
          <p:cNvSpPr txBox="1"/>
          <p:nvPr/>
        </p:nvSpPr>
        <p:spPr>
          <a:xfrm xmlns:a="http://schemas.openxmlformats.org/drawingml/2006/main">
            <a:off x="540000" y="1548000"/>
            <a:ext cx="5040000" cy="9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D2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0">
                <a:solidFill>
                  <a:srgbClr val="E8EAF0"/>
                </a:solidFill>
                <a:latin typeface="Courier New"/>
                <a:ea typeface="Courier New"/>
              </a:rPr>
              <a:t>STEP 1  —  Copy env file</a:t>
            </a:r>
          </a:p>
          <a:p xmlns:a="http://schemas.openxmlformats.org/drawingml/2006/main">
            <a:r>
              <a:rPr lang="en-US" sz="1300" b="0">
                <a:solidFill>
                  <a:srgbClr val="E8EAF0"/>
                </a:solidFill>
                <a:latin typeface="Courier New"/>
                <a:ea typeface="Courier New"/>
              </a:rPr>
              <a:t>cd social-media-agent\backend</a:t>
            </a:r>
          </a:p>
          <a:p xmlns:a="http://schemas.openxmlformats.org/drawingml/2006/main">
            <a:r>
              <a:rPr lang="en-US" sz="1300" b="0">
                <a:solidFill>
                  <a:srgbClr val="E8EAF0"/>
                </a:solidFill>
                <a:latin typeface="Courier New"/>
                <a:ea typeface="Courier New"/>
              </a:rPr>
              <a:t>Copy-Item .env.example .env</a:t>
            </a:r>
          </a:p>
        </p:txBody>
      </p:sp>
      <p:sp>
        <p:nvSpPr>
          <p:cNvPr id="100070" name="S2"/>
          <p:cNvSpPr txBox="1"/>
          <p:nvPr/>
        </p:nvSpPr>
        <p:spPr>
          <a:xfrm xmlns:a="http://schemas.openxmlformats.org/drawingml/2006/main">
            <a:off x="540000" y="2664000"/>
            <a:ext cx="5040000" cy="14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D2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0">
                <a:solidFill>
                  <a:srgbClr val="E8EAF0"/>
                </a:solidFill>
                <a:latin typeface="Courier New"/>
                <a:ea typeface="Courier New"/>
              </a:rPr>
              <a:t>STEP 2  —  Start Backend</a:t>
            </a:r>
          </a:p>
          <a:p xmlns:a="http://schemas.openxmlformats.org/drawingml/2006/main">
            <a:r>
              <a:rPr lang="en-US" sz="1300" b="0">
                <a:solidFill>
                  <a:srgbClr val="E8EAF0"/>
                </a:solidFill>
                <a:latin typeface="Courier New"/>
                <a:ea typeface="Courier New"/>
              </a:rPr>
              <a:t>cd backend</a:t>
            </a:r>
          </a:p>
          <a:p xmlns:a="http://schemas.openxmlformats.org/drawingml/2006/main">
            <a:r>
              <a:rPr lang="en-US" sz="1300" b="0">
                <a:solidFill>
                  <a:srgbClr val="E8EAF0"/>
                </a:solidFill>
                <a:latin typeface="Courier New"/>
                <a:ea typeface="Courier New"/>
              </a:rPr>
              <a:t>python -m venv .venv</a:t>
            </a:r>
          </a:p>
          <a:p xmlns:a="http://schemas.openxmlformats.org/drawingml/2006/main">
            <a:r>
              <a:rPr lang="en-US" sz="1300" b="0">
                <a:solidFill>
                  <a:srgbClr val="E8EAF0"/>
                </a:solidFill>
                <a:latin typeface="Courier New"/>
                <a:ea typeface="Courier New"/>
              </a:rPr>
              <a:t>.venv\Scripts\activate</a:t>
            </a:r>
          </a:p>
          <a:p xmlns:a="http://schemas.openxmlformats.org/drawingml/2006/main">
            <a:r>
              <a:rPr lang="en-US" sz="1300" b="0">
                <a:solidFill>
                  <a:srgbClr val="E8EAF0"/>
                </a:solidFill>
                <a:latin typeface="Courier New"/>
                <a:ea typeface="Courier New"/>
              </a:rPr>
              <a:t>pip install -r requirements.txt</a:t>
            </a:r>
          </a:p>
          <a:p xmlns:a="http://schemas.openxmlformats.org/drawingml/2006/main">
            <a:r>
              <a:rPr lang="en-US" sz="1300" b="0">
                <a:solidFill>
                  <a:srgbClr val="E8EAF0"/>
                </a:solidFill>
                <a:latin typeface="Courier New"/>
                <a:ea typeface="Courier New"/>
              </a:rPr>
              <a:t>uvicorn main:app --port 8000 --reload</a:t>
            </a:r>
          </a:p>
        </p:txBody>
      </p:sp>
      <p:sp>
        <p:nvSpPr>
          <p:cNvPr id="100071" name="S3"/>
          <p:cNvSpPr txBox="1"/>
          <p:nvPr/>
        </p:nvSpPr>
        <p:spPr>
          <a:xfrm xmlns:a="http://schemas.openxmlformats.org/drawingml/2006/main">
            <a:off x="540000" y="4320000"/>
            <a:ext cx="5040000" cy="9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D2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0">
                <a:solidFill>
                  <a:srgbClr val="E8EAF0"/>
                </a:solidFill>
                <a:latin typeface="Courier New"/>
                <a:ea typeface="Courier New"/>
              </a:rPr>
              <a:t>STEP 3  —  Start Frontend</a:t>
            </a:r>
          </a:p>
          <a:p xmlns:a="http://schemas.openxmlformats.org/drawingml/2006/main">
            <a:r>
              <a:rPr lang="en-US" sz="1300" b="0">
                <a:solidFill>
                  <a:srgbClr val="E8EAF0"/>
                </a:solidFill>
                <a:latin typeface="Courier New"/>
                <a:ea typeface="Courier New"/>
              </a:rPr>
              <a:t>cd frontend</a:t>
            </a:r>
          </a:p>
          <a:p xmlns:a="http://schemas.openxmlformats.org/drawingml/2006/main">
            <a:r>
              <a:rPr lang="en-US" sz="1300" b="0">
                <a:solidFill>
                  <a:srgbClr val="E8EAF0"/>
                </a:solidFill>
                <a:latin typeface="Courier New"/>
                <a:ea typeface="Courier New"/>
              </a:rPr>
              <a:t>npm install</a:t>
            </a:r>
          </a:p>
          <a:p xmlns:a="http://schemas.openxmlformats.org/drawingml/2006/main">
            <a:r>
              <a:rPr lang="en-US" sz="1300" b="0">
                <a:solidFill>
                  <a:srgbClr val="E8EAF0"/>
                </a:solidFill>
                <a:latin typeface="Courier New"/>
                <a:ea typeface="Courier New"/>
              </a:rPr>
              <a:t>npm run dev</a:t>
            </a:r>
          </a:p>
        </p:txBody>
      </p:sp>
      <p:sp>
        <p:nvSpPr>
          <p:cNvPr id="100072" name="Links"/>
          <p:cNvSpPr txBox="1"/>
          <p:nvPr/>
        </p:nvSpPr>
        <p:spPr>
          <a:xfrm xmlns:a="http://schemas.openxmlformats.org/drawingml/2006/main">
            <a:off x="6120000" y="1548000"/>
            <a:ext cx="5220000" cy="28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D2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 b="0">
                <a:solidFill>
                  <a:srgbClr val="E8EAF0"/>
                </a:solidFill>
                <a:latin typeface="Segoe UI"/>
                <a:ea typeface="Segoe UI"/>
              </a:rPr>
              <a:t>Live App</a:t>
            </a:r>
          </a:p>
          <a:p xmlns:a="http://schemas.openxmlformats.org/drawingml/2006/main">
            <a:r>
              <a:rPr lang="en-US" sz="1600" b="0">
                <a:solidFill>
                  <a:srgbClr val="E8EAF0"/>
                </a:solidFill>
                <a:latin typeface="Segoe UI"/>
                <a:ea typeface="Segoe UI"/>
              </a:rPr>
              <a:t>http://localhost:3000</a:t>
            </a:r>
          </a:p>
          <a:p xmlns:a="http://schemas.openxmlformats.org/drawingml/2006/main">
            <a:r>
              <a:rPr lang="en-US" sz="1600" b="0">
                <a:solidFill>
                  <a:srgbClr val="E8EAF0"/>
                </a:solidFill>
                <a:latin typeface="Segoe UI"/>
                <a:ea typeface="Segoe UI"/>
              </a:rPr>
              <a:t/>
            </a:r>
          </a:p>
          <a:p xmlns:a="http://schemas.openxmlformats.org/drawingml/2006/main">
            <a:r>
              <a:rPr lang="en-US" sz="1600" b="0">
                <a:solidFill>
                  <a:srgbClr val="E8EAF0"/>
                </a:solidFill>
                <a:latin typeface="Segoe UI"/>
                <a:ea typeface="Segoe UI"/>
              </a:rPr>
              <a:t>API Docs</a:t>
            </a:r>
          </a:p>
          <a:p xmlns:a="http://schemas.openxmlformats.org/drawingml/2006/main">
            <a:r>
              <a:rPr lang="en-US" sz="1600" b="0">
                <a:solidFill>
                  <a:srgbClr val="E8EAF0"/>
                </a:solidFill>
                <a:latin typeface="Segoe UI"/>
                <a:ea typeface="Segoe UI"/>
              </a:rPr>
              <a:t>http://localhost:8000/docs</a:t>
            </a:r>
          </a:p>
          <a:p xmlns:a="http://schemas.openxmlformats.org/drawingml/2006/main">
            <a:r>
              <a:rPr lang="en-US" sz="1600" b="0">
                <a:solidFill>
                  <a:srgbClr val="E8EAF0"/>
                </a:solidFill>
                <a:latin typeface="Segoe UI"/>
                <a:ea typeface="Segoe UI"/>
              </a:rPr>
              <a:t/>
            </a:r>
          </a:p>
          <a:p xmlns:a="http://schemas.openxmlformats.org/drawingml/2006/main">
            <a:r>
              <a:rPr lang="en-US" sz="1600" b="0">
                <a:solidFill>
                  <a:srgbClr val="E8EAF0"/>
                </a:solidFill>
                <a:latin typeface="Segoe UI"/>
                <a:ea typeface="Segoe UI"/>
              </a:rPr>
              <a:t>Health Check</a:t>
            </a:r>
          </a:p>
          <a:p xmlns:a="http://schemas.openxmlformats.org/drawingml/2006/main">
            <a:r>
              <a:rPr lang="en-US" sz="1600" b="0">
                <a:solidFill>
                  <a:srgbClr val="E8EAF0"/>
                </a:solidFill>
                <a:latin typeface="Segoe UI"/>
                <a:ea typeface="Segoe UI"/>
              </a:rPr>
              <a:t>http://localhost:8000/health</a:t>
            </a:r>
          </a:p>
        </p:txBody>
      </p:sp>
      <p:sp>
        <p:nvSpPr>
          <p:cNvPr id="100073" name="Docker"/>
          <p:cNvSpPr txBox="1"/>
          <p:nvPr/>
        </p:nvSpPr>
        <p:spPr>
          <a:xfrm xmlns:a="http://schemas.openxmlformats.org/drawingml/2006/main">
            <a:off x="6120000" y="4680000"/>
            <a:ext cx="522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D2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1">
                <a:solidFill>
                  <a:srgbClr val="22C55E"/>
                </a:solidFill>
                <a:latin typeface="Courier New"/>
                <a:ea typeface="Courier New"/>
              </a:rPr>
              <a:t>OR — Single command with Docker:  docker compose up --build</a:t>
            </a:r>
          </a:p>
        </p:txBody>
      </p:sp>
      <p:sp>
        <p:nvSpPr>
          <p:cNvPr id="100074" name="Note"/>
          <p:cNvSpPr txBox="1"/>
          <p:nvPr/>
        </p:nvSpPr>
        <p:spPr>
          <a:xfrm xmlns:a="http://schemas.openxmlformats.org/drawingml/2006/main">
            <a:off x="540000" y="5472000"/>
            <a:ext cx="10800000" cy="28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1">
                <a:solidFill>
                  <a:srgbClr val="22C55E"/>
                </a:solidFill>
                <a:latin typeface="Segoe UI"/>
                <a:ea typeface="Segoe UI"/>
              </a:rPr>
              <a:t>No API keys needed — runs fully with mock data out of the box</a:t>
            </a:r>
          </a:p>
        </p:txBody>
      </p:sp>
    </p:spTree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A0F1E"/>
        </a:solidFill>
      </p:bgPr>
    </p:bg>
    <p:spTree>
      <p:nvGrpSpPr>
        <p:cNvPr id="1" name=""/>
        <p:cNvGrpSpPr/>
        <p:nvPr/>
      </p:nvGrpSpPr>
      <p:grpSpPr/>
      <p:sp>
        <p:nvSpPr>
          <p:cNvPr id="100075" name="TopFill"/>
          <p:cNvSpPr txBox="1"/>
          <p:nvPr/>
        </p:nvSpPr>
        <p:spPr>
          <a:xfrm xmlns:a="http://schemas.openxmlformats.org/drawingml/2006/main">
            <a:off x="0" y="0"/>
            <a:ext cx="12193200" cy="36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2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>
              <a:solidFill>
                <a:srgbClr val="0D1B2E"/>
              </a:solidFill>
            </a:endParaRPr>
          </a:p>
        </p:txBody>
      </p:sp>
      <p:sp>
        <p:nvSpPr>
          <p:cNvPr id="100076" name="AccentLine"/>
          <p:cNvSpPr txBox="1"/>
          <p:nvPr/>
        </p:nvSpPr>
        <p:spPr>
          <a:xfrm xmlns:a="http://schemas.openxmlformats.org/drawingml/2006/main">
            <a:off x="0" y="3600000"/>
            <a:ext cx="12193200" cy="1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8EF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>
              <a:solidFill>
                <a:srgbClr val="4F8EF7"/>
              </a:solidFill>
            </a:endParaRPr>
          </a:p>
        </p:txBody>
      </p:sp>
      <p:sp>
        <p:nvSpPr>
          <p:cNvPr id="100077" name="ThankYou"/>
          <p:cNvSpPr txBox="1"/>
          <p:nvPr/>
        </p:nvSpPr>
        <p:spPr>
          <a:xfrm xmlns:a="http://schemas.openxmlformats.org/drawingml/2006/main">
            <a:off x="720000" y="720000"/>
            <a:ext cx="10800000" cy="144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6000" b="1">
                <a:solidFill>
                  <a:srgbClr val="FFFFFF"/>
                </a:solidFill>
                <a:latin typeface="Segoe UI"/>
                <a:ea typeface="Segoe UI"/>
              </a:rPr>
              <a:t>Thank You</a:t>
            </a:r>
          </a:p>
        </p:txBody>
      </p:sp>
      <p:sp>
        <p:nvSpPr>
          <p:cNvPr id="100078" name="SubThank"/>
          <p:cNvSpPr txBox="1"/>
          <p:nvPr/>
        </p:nvSpPr>
        <p:spPr>
          <a:xfrm xmlns:a="http://schemas.openxmlformats.org/drawingml/2006/main">
            <a:off x="720000" y="2340000"/>
            <a:ext cx="10800000" cy="43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200" b="0">
                <a:solidFill>
                  <a:srgbClr val="8AB4F8"/>
                </a:solidFill>
                <a:latin typeface="Segoe UI"/>
                <a:ea typeface="Segoe UI"/>
              </a:rPr>
              <a:t>Social Media Agent — Problem Statement #10</a:t>
            </a:r>
          </a:p>
        </p:txBody>
      </p:sp>
      <p:sp>
        <p:nvSpPr>
          <p:cNvPr id="100079" name="TechLine"/>
          <p:cNvSpPr txBox="1"/>
          <p:nvPr/>
        </p:nvSpPr>
        <p:spPr>
          <a:xfrm xmlns:a="http://schemas.openxmlformats.org/drawingml/2006/main">
            <a:off x="720000" y="4140000"/>
            <a:ext cx="10800000" cy="36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 b="0">
                <a:solidFill>
                  <a:srgbClr val="7C5CD8"/>
                </a:solidFill>
                <a:latin typeface="Segoe UI"/>
                <a:ea typeface="Segoe UI"/>
              </a:rPr>
              <a:t>IBM watsonx.ai  ·  IBM Langflow  ·  FastAPI  ·  React  ·  Docker</a:t>
            </a:r>
          </a:p>
        </p:txBody>
      </p:sp>
      <p:sp>
        <p:nvSpPr>
          <p:cNvPr id="100080" name="Stats"/>
          <p:cNvSpPr txBox="1"/>
          <p:nvPr/>
        </p:nvSpPr>
        <p:spPr>
          <a:xfrm xmlns:a="http://schemas.openxmlformats.org/drawingml/2006/main">
            <a:off x="720000" y="4860000"/>
            <a:ext cx="10800000" cy="32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 b="0">
                <a:solidFill>
                  <a:srgbClr val="8B90A7"/>
                </a:solidFill>
                <a:latin typeface="Segoe UI"/>
                <a:ea typeface="Segoe UI"/>
              </a:rPr>
              <a:t>49 Files Built   |   17 Python Modules   |   10 React Components   |   5 AI Agent Tools   |   0 Errors</a:t>
            </a:r>
          </a:p>
        </p:txBody>
      </p:sp>
      <p:sp>
        <p:nvSpPr>
          <p:cNvPr id="100081" name="AppLink"/>
          <p:cNvSpPr txBox="1"/>
          <p:nvPr/>
        </p:nvSpPr>
        <p:spPr>
          <a:xfrm xmlns:a="http://schemas.openxmlformats.org/drawingml/2006/main">
            <a:off x="720000" y="5580000"/>
            <a:ext cx="10800000" cy="32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 b="1">
                <a:solidFill>
                  <a:srgbClr val="22C55E"/>
                </a:solidFill>
                <a:latin typeface="Segoe UI"/>
                <a:ea typeface="Segoe UI"/>
              </a:rPr>
              <a:t>Run the app:  http://localhost:3000     API Docs:  http://localhost:8000/docs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ap:Properties xmlns:ap="http://schemas.openxmlformats.org/officeDocument/2006/extended-properties">
  <ap:Application>OfficeCLI/1.0.144</ap:Application>
</ap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OfficeCLI</dc:creator>
  <dcterms:created xsi:type="dcterms:W3CDTF">2026-10-14T12:34:49Z</dcterms:created>
  <cp:lastModifiedBy>OfficeCLI</cp:lastModifiedBy>
  <dcterms:modified xsi:type="dcterms:W3CDTF">2026-10-14T12:34:49Z</dcterms:modified>
</cp:coreProperties>
</file>

<file path=docProps/custom.xml><?xml version="1.0" encoding="utf-8"?>
<op:Properties xmlns:op="http://schemas.openxmlformats.org/officeDocument/2006/custom-properties">
  <op:property fmtid="{D5CDD505-2E9C-101B-9397-08002B2CF9AE}" pid="2" name="OfficeCLI.Version">
    <vt:lpwstr xmlns:vt="http://schemas.openxmlformats.org/officeDocument/2006/docPropsVTypes">1.0.157</vt:lpwstr>
  </op:property>
  <op:property fmtid="{D5CDD505-2E9C-101B-9397-08002B2CF9AE}" pid="3" name="OfficeCLI.LastModified">
    <vt:lpwstr xmlns:vt="http://schemas.openxmlformats.org/officeDocument/2006/docPropsVTypes">2026-10-14T12:36:58Z</vt:lpwstr>
  </op:property>
</op:Properties>
</file>